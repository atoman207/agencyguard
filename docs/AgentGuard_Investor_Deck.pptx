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5e56de9-4e27-8ab9-cb4f-dde2d5f11a58}">
          <p14:sldIdLst>
            <p14:sldId id="256"/>
          </p14:sldIdLst>
        </p14:section>
        <p14:section name="Problem and solution" id="{5d93ece6-8404-90d3-f4d9-009b5da4a9ea}">
          <p14:sldIdLst>
            <p14:sldId id="257"/>
            <p14:sldId id="258"/>
            <p14:sldId id="259"/>
            <p14:sldId id="260"/>
          </p14:sldIdLst>
        </p14:section>
        <p14:section name="Market" id="{76dd2f9d-1750-6260-3fdf-25472a8a998e}">
          <p14:sldIdLst>
            <p14:sldId id="261"/>
            <p14:sldId id="262"/>
            <p14:sldId id="263"/>
          </p14:sldIdLst>
        </p14:section>
        <p14:section name="Business" id="{79aa57cf-b6a2-1c6f-c9cb-b70791b85594}">
          <p14:sldIdLst>
            <p14:sldId id="264"/>
            <p14:sldId id="265"/>
          </p14:sldIdLst>
        </p14:section>
        <p14:section name="Plan and team" id="{2b78a72d-bee5-13f1-71e6-9f55bd5c8d60}">
          <p14:sldIdLst>
            <p14:sldId id="266"/>
            <p14:sldId id="267"/>
          </p14:sldIdLst>
        </p14:section>
        <p14:section name="The ask" id="{bdd9a2ce-f3a2-118d-27f9-311f47745520}">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idea: AgentGuard lets any business safely run AI agents. Introduce yourself and Ulises. (Check that 'Founder &amp; CEO' is the title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companies give agents real power but have no control layer. Use the incidents to make it concrete. The four questions are what every owner asks once agents touch money or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functions, one product. The key point: it is vendor-neutral. A company with agents on several platforms gets one view, one rule set, one budget and one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technical insight. We don't integrate deeply with every framework; we sit where agents touch the outside world. The credential vault is the strongest point: when the real keys live only in AgentGuard, risky actions on connected tools cannot skip the rules. We're honest about coverage: the dashboard shows which agents are enforced, cooperative or not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real flow. This is the moment investors 'get it'. If a demo exists by the meeting, show it here instead of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the timing is right. Before the meeting, double-check the acquisition names; this market moves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Pratik: fill in the three market numbers with a credible source before the meeting. Investors check these. If no solid source exists, use a bottom-up estimate (number of target companies × expected price)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competitors: each category is good at its part. Our position is the combination, across platforms, for smaller teams. Expect the question 'what if n8n or OpenAI builds this?' Answer: they will build approvals for their own platform; customers with mixed platforms still need one control layer, budgets, vault and audit across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SaaS subscription. Free observe mode lowers the barrier; value and stickiness grow as customers add rules, approvals and move credentials into the vault. Pricing is being validated with design partners, so don't commit to numbers unless you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is our advantage: System Memo already reaches the target audience. Pratik: fill the traction numbers with real figures only. Even small real numbers (e.g. 5 companies that agreed to try it) are stronger than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phases. Week 1 starts once funding and the company setup are in place. The full roadmap document has every deliverable and sprint if investors want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Pratik: check and strengthen your own bullets (audience size, notable partnerships). Investors back teams: founder-market fit (an audience of exactly our customers) plus a builder who has shipped AI agents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Pratik: fill in the amount, the funding type and the use-of-funds percentages; they should add up to 100%. The milestones come straight from the roadmap. Be ready to explain what the next round looks like after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one-liner, repeat the ask,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 Title Dark">
    <p:bg>
      <p:bgPr>
        <a:solidFill>
          <a:srgbClr val="1226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rtlCol="0"/>
          <a:lstStyle>
            <a:lvl1pPr algn="l" indent="0" marL="0">
              <a:buNone/>
              <a:defRPr lang="en-US" sz="5400" b="1" dirty="0">
                <a:solidFill>
                  <a:schemeClr val="bg1"/>
                </a:solidFill>
                <a:latin typeface="Arial" pitchFamily="34" charset="0"/>
                <a:ea typeface="Arial" pitchFamily="34" charset="-122"/>
                <a:cs typeface="Arial" pitchFamily="34" charset="-120"/>
              </a:defRPr>
            </a:lvl1pPr>
          </a:lstStyle>
          <a:p>
            <a:pPr algn="l" indent="0" marL="0">
              <a:buNone/>
            </a:pPr>
            <a:endParaRPr lang="en-US" sz="5400" dirty="0"/>
          </a:p>
        </p:txBody>
      </p:sp>
      <p:sp>
        <p:nvSpPr>
          <p:cNvPr id="3" name="Text 0"/>
          <p:cNvSpPr/>
          <p:nvPr>
            <p:ph idx="101" type="body" hasCustomPrompt="1"/>
          </p:nvPr>
        </p:nvSpPr>
        <p:spPr>
          <a:xfrm>
            <a:off x="731520" y="3429000"/>
            <a:ext cx="10698480" cy="822960"/>
          </a:xfrm>
          <a:prstGeom prst="rect">
            <a:avLst/>
          </a:prstGeom>
          <a:noFill/>
          <a:ln/>
        </p:spPr>
        <p:txBody>
          <a:bodyPr wrap="square" rtlCol="0"/>
          <a:lstStyle>
            <a:lvl1pPr algn="l" indent="0" marL="0">
              <a:buNone/>
              <a:defRPr lang="en-US" sz="2400" dirty="0">
                <a:solidFill>
                  <a:schemeClr val="accent6"/>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2"/>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AgentGuard  ·  Confidential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badge circle"/>
          <p:cNvSpPr/>
          <p:nvPr/>
        </p:nvSpPr>
        <p:spPr>
          <a:xfrm>
            <a:off x="731520" y="914400"/>
            <a:ext cx="914400" cy="914400"/>
          </a:xfrm>
          <a:prstGeom prst="ellipse">
            <a:avLst/>
          </a:prstGeom>
          <a:solidFill>
            <a:schemeClr val="accent1"/>
          </a:solidFill>
          <a:ln/>
        </p:spPr>
      </p:sp>
      <p:pic>
        <p:nvPicPr>
          <p:cNvPr id="3" name="Logo badge icon" descr="preencoded.png">    </p:cNvPr>
          <p:cNvPicPr>
            <a:picLocks noChangeAspect="1"/>
          </p:cNvPicPr>
          <p:nvPr/>
        </p:nvPicPr>
        <p:blipFill>
          <a:blip r:embed="rId1"/>
          <a:stretch>
            <a:fillRect/>
          </a:stretch>
        </p:blipFill>
        <p:spPr>
          <a:xfrm>
            <a:off x="978408" y="1161288"/>
            <a:ext cx="420624" cy="420624"/>
          </a:xfrm>
          <a:prstGeom prst="rect">
            <a:avLst/>
          </a:prstGeom>
        </p:spPr>
      </p:pic>
      <p:sp>
        <p:nvSpPr>
          <p:cNvPr id="4" name="Text 0"/>
          <p:cNvSpPr/>
          <p:nvPr>
            <p:ph idx="100" type="title" hasCustomPrompt="1"/>
          </p:nvPr>
        </p:nvSpPr>
        <p:spPr>
          <a:xfrm>
            <a:off x="731520" y="210312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latin typeface="Arial" pitchFamily="34" charset="0"/>
                <a:ea typeface="Arial" pitchFamily="34" charset="-122"/>
                <a:cs typeface="Arial" pitchFamily="34" charset="-120"/>
              </a:rPr>
              <a:t>AgentGuard</a:t>
            </a:r>
            <a:endParaRPr lang="en-US" sz="5400" dirty="0"/>
          </a:p>
        </p:txBody>
      </p:sp>
      <p:sp>
        <p:nvSpPr>
          <p:cNvPr id="5" name="Text 0"/>
          <p:cNvSpPr/>
          <p:nvPr>
            <p:ph idx="101" type="body" hasCustomPrompt="1"/>
          </p:nvPr>
        </p:nvSpPr>
        <p:spPr>
          <a:xfrm>
            <a:off x="731520" y="3429000"/>
            <a:ext cx="10698480" cy="822960"/>
          </a:xfrm>
          <a:prstGeom prst="rect">
            <a:avLst/>
          </a:prstGeom>
          <a:noFill/>
          <a:ln/>
        </p:spPr>
        <p:txBody>
          <a:bodyPr wrap="square" lIns="0" tIns="0" rIns="0" bIns="0" rtlCol="0" anchor="t"/>
          <a:lstStyle/>
          <a:p>
            <a:pPr algn="l" indent="0" marL="0">
              <a:buNone/>
            </a:pPr>
            <a:r>
              <a:rPr lang="en-US" sz="2400" dirty="0">
                <a:solidFill>
                  <a:schemeClr val="accent6"/>
                </a:solidFill>
              </a:rPr>
              <a:t>The control layer for AI agents: see, control and approve what every agent does</a:t>
            </a:r>
            <a:endParaRPr lang="en-US" sz="2400" dirty="0"/>
          </a:p>
        </p:txBody>
      </p:sp>
      <p:sp>
        <p:nvSpPr>
          <p:cNvPr id="6" name="Presenters"/>
          <p:cNvSpPr txBox="1"/>
          <p:nvPr/>
        </p:nvSpPr>
        <p:spPr>
          <a:xfrm>
            <a:off x="731520" y="4937760"/>
            <a:ext cx="7315200" cy="731520"/>
          </a:xfrm>
          <a:prstGeom prst="rect">
            <a:avLst/>
          </a:prstGeom>
          <a:noFill/>
          <a:ln/>
        </p:spPr>
        <p:txBody>
          <a:bodyPr wrap="square" lIns="0" tIns="0" rIns="0" bIns="0" rtlCol="0" anchor="t"/>
          <a:lstStyle/>
          <a:p>
            <a:pPr indent="0" marL="0">
              <a:buNone/>
            </a:pPr>
            <a:r>
              <a:rPr lang="en-US" sz="1600" b="1" dirty="0">
                <a:solidFill>
                  <a:schemeClr val="bg1"/>
                </a:solidFill>
              </a:rPr>
              <a:t>Pratik Batha</a:t>
            </a:r>
            <a:pPr indent="0" marL="0">
              <a:buNone/>
            </a:pPr>
            <a:r>
              <a:rPr lang="en-US" sz="1600" dirty="0">
                <a:solidFill>
                  <a:schemeClr val="accent6"/>
                </a:solidFill>
              </a:rPr>
              <a:t>  ·  Founder &amp; CEO, System Memo</a:t>
            </a:r>
            <a:endParaRPr lang="en-US" sz="1600" dirty="0"/>
          </a:p>
          <a:p>
            <a:pPr indent="0" marL="0">
              <a:buNone/>
            </a:pPr>
            <a:r>
              <a:rPr lang="en-US" sz="1600" b="1" dirty="0">
                <a:solidFill>
                  <a:schemeClr val="bg1"/>
                </a:solidFill>
              </a:rPr>
              <a:t>Ulises Romano</a:t>
            </a:r>
            <a:pPr indent="0" marL="0">
              <a:buNone/>
            </a:pPr>
            <a:r>
              <a:rPr lang="en-US" sz="1600" dirty="0">
                <a:solidFill>
                  <a:schemeClr val="accent6"/>
                </a:solidFill>
              </a:rPr>
              <a:t>  ·  Lead Software Developer</a:t>
            </a:r>
            <a:endParaRPr lang="en-US" sz="1600" dirty="0"/>
          </a:p>
        </p:txBody>
      </p:sp>
      <p:sp>
        <p:nvSpPr>
          <p:cNvPr id="7" name="Date line"/>
          <p:cNvSpPr txBox="1"/>
          <p:nvPr/>
        </p:nvSpPr>
        <p:spPr>
          <a:xfrm>
            <a:off x="731520" y="5943600"/>
            <a:ext cx="5486400" cy="320040"/>
          </a:xfrm>
          <a:prstGeom prst="rect">
            <a:avLst/>
          </a:prstGeom>
          <a:noFill/>
          <a:ln/>
        </p:spPr>
        <p:txBody>
          <a:bodyPr wrap="square" lIns="0" tIns="0" rIns="0" bIns="0" rtlCol="0" anchor="t"/>
          <a:lstStyle/>
          <a:p>
            <a:pPr indent="0" marL="0">
              <a:buNone/>
            </a:pPr>
            <a:r>
              <a:rPr lang="en-US" sz="1200" dirty="0">
                <a:solidFill>
                  <a:schemeClr val="accent5"/>
                </a:solidFill>
              </a:rPr>
              <a:t>Investor presentation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AI agents now act on their own, with no one in control</a:t>
            </a:r>
            <a:endParaRPr lang="en-US" sz="3200" dirty="0"/>
          </a:p>
        </p:txBody>
      </p:sp>
      <p:sp>
        <p:nvSpPr>
          <p:cNvPr id="3" name="Problem intro"/>
          <p:cNvSpPr txBox="1"/>
          <p:nvPr/>
        </p:nvSpPr>
        <p:spPr>
          <a:xfrm>
            <a:off x="548640" y="1234440"/>
            <a:ext cx="11064240" cy="365760"/>
          </a:xfrm>
          <a:prstGeom prst="rect">
            <a:avLst/>
          </a:prstGeom>
          <a:noFill/>
          <a:ln/>
        </p:spPr>
        <p:txBody>
          <a:bodyPr wrap="square" lIns="0" tIns="0" rIns="0" bIns="0" rtlCol="0" anchor="t"/>
          <a:lstStyle/>
          <a:p>
            <a:pPr indent="0" marL="0">
              <a:buNone/>
            </a:pPr>
            <a:r>
              <a:rPr lang="en-US" sz="1600" dirty="0">
                <a:solidFill>
                  <a:schemeClr val="accent5"/>
                </a:solidFill>
              </a:rPr>
              <a:t>Agents answer customers, send emails, issue refunds and change data. When they get it wrong, the damage is real:</a:t>
            </a:r>
            <a:endParaRPr lang="en-US" sz="1600" dirty="0"/>
          </a:p>
        </p:txBody>
      </p:sp>
      <p:sp>
        <p:nvSpPr>
          <p:cNvPr id="4" name="Incident card 1"/>
          <p:cNvSpPr/>
          <p:nvPr/>
        </p:nvSpPr>
        <p:spPr>
          <a:xfrm>
            <a:off x="548640" y="1783080"/>
            <a:ext cx="3520440" cy="2514600"/>
          </a:xfrm>
          <a:prstGeom prst="roundRect">
            <a:avLst>
              <a:gd name="adj" fmla="val 4364"/>
            </a:avLst>
          </a:prstGeom>
          <a:solidFill>
            <a:schemeClr val="bg2"/>
          </a:solidFill>
          <a:ln/>
        </p:spPr>
      </p:sp>
      <p:sp>
        <p:nvSpPr>
          <p:cNvPr id="5" name="Incident 1 circle"/>
          <p:cNvSpPr/>
          <p:nvPr/>
        </p:nvSpPr>
        <p:spPr>
          <a:xfrm>
            <a:off x="822960" y="2011680"/>
            <a:ext cx="640080" cy="640080"/>
          </a:xfrm>
          <a:prstGeom prst="ellipse">
            <a:avLst/>
          </a:prstGeom>
          <a:solidFill>
            <a:schemeClr val="accent3"/>
          </a:solidFill>
          <a:ln/>
        </p:spPr>
      </p:sp>
      <p:pic>
        <p:nvPicPr>
          <p:cNvPr id="6" name="Incident 1 icon" descr="preencoded.png">    </p:cNvPr>
          <p:cNvPicPr>
            <a:picLocks noChangeAspect="1"/>
          </p:cNvPicPr>
          <p:nvPr/>
        </p:nvPicPr>
        <p:blipFill>
          <a:blip r:embed="rId1"/>
          <a:stretch>
            <a:fillRect/>
          </a:stretch>
        </p:blipFill>
        <p:spPr>
          <a:xfrm>
            <a:off x="995782" y="2184502"/>
            <a:ext cx="294437" cy="294437"/>
          </a:xfrm>
          <a:prstGeom prst="rect">
            <a:avLst/>
          </a:prstGeom>
        </p:spPr>
      </p:pic>
      <p:sp>
        <p:nvSpPr>
          <p:cNvPr id="7" name="Incident 1 title"/>
          <p:cNvSpPr txBox="1"/>
          <p:nvPr/>
        </p:nvSpPr>
        <p:spPr>
          <a:xfrm>
            <a:off x="1600200" y="2011680"/>
            <a:ext cx="2286000" cy="640080"/>
          </a:xfrm>
          <a:prstGeom prst="rect">
            <a:avLst/>
          </a:prstGeom>
          <a:noFill/>
          <a:ln/>
        </p:spPr>
        <p:txBody>
          <a:bodyPr wrap="square" lIns="0" tIns="0" rIns="0" bIns="0" rtlCol="0" anchor="ctr"/>
          <a:lstStyle/>
          <a:p>
            <a:pPr indent="0" marL="0">
              <a:buNone/>
            </a:pPr>
            <a:r>
              <a:rPr lang="en-US" sz="1800" b="1" dirty="0">
                <a:solidFill>
                  <a:schemeClr val="tx2"/>
                </a:solidFill>
              </a:rPr>
              <a:t>Deleted production data</a:t>
            </a:r>
            <a:endParaRPr lang="en-US" sz="1800" dirty="0"/>
          </a:p>
        </p:txBody>
      </p:sp>
      <p:sp>
        <p:nvSpPr>
          <p:cNvPr id="8" name="Incident 1 text"/>
          <p:cNvSpPr txBox="1"/>
          <p:nvPr/>
        </p:nvSpPr>
        <p:spPr>
          <a:xfrm>
            <a:off x="822960" y="2834640"/>
            <a:ext cx="2971800" cy="1005840"/>
          </a:xfrm>
          <a:prstGeom prst="rect">
            <a:avLst/>
          </a:prstGeom>
          <a:noFill/>
          <a:ln/>
        </p:spPr>
        <p:txBody>
          <a:bodyPr wrap="square" lIns="0" tIns="0" rIns="0" bIns="0" rtlCol="0" anchor="t"/>
          <a:lstStyle/>
          <a:p>
            <a:pPr indent="0" marL="0">
              <a:buNone/>
            </a:pPr>
            <a:r>
              <a:rPr lang="en-US" sz="1400" dirty="0">
                <a:solidFill>
                  <a:schemeClr val="tx1"/>
                </a:solidFill>
              </a:rPr>
              <a:t>An AI coding agent deleted a company’s production database during a code freeze.</a:t>
            </a:r>
            <a:endParaRPr lang="en-US" sz="1400" dirty="0"/>
          </a:p>
        </p:txBody>
      </p:sp>
      <p:sp>
        <p:nvSpPr>
          <p:cNvPr id="9" name="Incident 1 source"/>
          <p:cNvSpPr txBox="1"/>
          <p:nvPr/>
        </p:nvSpPr>
        <p:spPr>
          <a:xfrm>
            <a:off x="822960" y="3886200"/>
            <a:ext cx="2971800" cy="274320"/>
          </a:xfrm>
          <a:prstGeom prst="rect">
            <a:avLst/>
          </a:prstGeom>
          <a:noFill/>
          <a:ln/>
        </p:spPr>
        <p:txBody>
          <a:bodyPr wrap="square" lIns="0" tIns="0" rIns="0" bIns="0" rtlCol="0" anchor="t"/>
          <a:lstStyle/>
          <a:p>
            <a:pPr indent="0" marL="0">
              <a:buNone/>
            </a:pPr>
            <a:r>
              <a:rPr lang="en-US" sz="1100" i="1" dirty="0">
                <a:solidFill>
                  <a:schemeClr val="accent5"/>
                </a:solidFill>
              </a:rPr>
              <a:t>Replit, 2025</a:t>
            </a:r>
            <a:endParaRPr lang="en-US" sz="1100" dirty="0"/>
          </a:p>
        </p:txBody>
      </p:sp>
      <p:sp>
        <p:nvSpPr>
          <p:cNvPr id="10" name="Incident card 2"/>
          <p:cNvSpPr/>
          <p:nvPr/>
        </p:nvSpPr>
        <p:spPr>
          <a:xfrm>
            <a:off x="4343400" y="1783080"/>
            <a:ext cx="3520440" cy="2514600"/>
          </a:xfrm>
          <a:prstGeom prst="roundRect">
            <a:avLst>
              <a:gd name="adj" fmla="val 4364"/>
            </a:avLst>
          </a:prstGeom>
          <a:solidFill>
            <a:schemeClr val="bg2"/>
          </a:solidFill>
          <a:ln/>
        </p:spPr>
      </p:sp>
      <p:sp>
        <p:nvSpPr>
          <p:cNvPr id="11" name="Incident 2 circle"/>
          <p:cNvSpPr/>
          <p:nvPr/>
        </p:nvSpPr>
        <p:spPr>
          <a:xfrm>
            <a:off x="4617720" y="2011680"/>
            <a:ext cx="640080" cy="640080"/>
          </a:xfrm>
          <a:prstGeom prst="ellipse">
            <a:avLst/>
          </a:prstGeom>
          <a:solidFill>
            <a:schemeClr val="accent3"/>
          </a:solidFill>
          <a:ln/>
        </p:spPr>
      </p:sp>
      <p:pic>
        <p:nvPicPr>
          <p:cNvPr id="12" name="Incident 2 icon" descr="preencoded.png">    </p:cNvPr>
          <p:cNvPicPr>
            <a:picLocks noChangeAspect="1"/>
          </p:cNvPicPr>
          <p:nvPr/>
        </p:nvPicPr>
        <p:blipFill>
          <a:blip r:embed="rId2"/>
          <a:stretch>
            <a:fillRect/>
          </a:stretch>
        </p:blipFill>
        <p:spPr>
          <a:xfrm>
            <a:off x="4790542" y="2184502"/>
            <a:ext cx="294437" cy="294437"/>
          </a:xfrm>
          <a:prstGeom prst="rect">
            <a:avLst/>
          </a:prstGeom>
        </p:spPr>
      </p:pic>
      <p:sp>
        <p:nvSpPr>
          <p:cNvPr id="13" name="Incident 2 title"/>
          <p:cNvSpPr txBox="1"/>
          <p:nvPr/>
        </p:nvSpPr>
        <p:spPr>
          <a:xfrm>
            <a:off x="5394960" y="2011680"/>
            <a:ext cx="2286000" cy="640080"/>
          </a:xfrm>
          <a:prstGeom prst="rect">
            <a:avLst/>
          </a:prstGeom>
          <a:noFill/>
          <a:ln/>
        </p:spPr>
        <p:txBody>
          <a:bodyPr wrap="square" lIns="0" tIns="0" rIns="0" bIns="0" rtlCol="0" anchor="ctr"/>
          <a:lstStyle/>
          <a:p>
            <a:pPr indent="0" marL="0">
              <a:buNone/>
            </a:pPr>
            <a:r>
              <a:rPr lang="en-US" sz="1800" b="1" dirty="0">
                <a:solidFill>
                  <a:schemeClr val="tx2"/>
                </a:solidFill>
              </a:rPr>
              <a:t>Promised what wasn’t true</a:t>
            </a:r>
            <a:endParaRPr lang="en-US" sz="1800" dirty="0"/>
          </a:p>
        </p:txBody>
      </p:sp>
      <p:sp>
        <p:nvSpPr>
          <p:cNvPr id="14" name="Incident 2 text"/>
          <p:cNvSpPr txBox="1"/>
          <p:nvPr/>
        </p:nvSpPr>
        <p:spPr>
          <a:xfrm>
            <a:off x="4617720" y="2834640"/>
            <a:ext cx="2971800" cy="1005840"/>
          </a:xfrm>
          <a:prstGeom prst="rect">
            <a:avLst/>
          </a:prstGeom>
          <a:noFill/>
          <a:ln/>
        </p:spPr>
        <p:txBody>
          <a:bodyPr wrap="square" lIns="0" tIns="0" rIns="0" bIns="0" rtlCol="0" anchor="t"/>
          <a:lstStyle/>
          <a:p>
            <a:pPr indent="0" marL="0">
              <a:buNone/>
            </a:pPr>
            <a:r>
              <a:rPr lang="en-US" sz="1400" dirty="0">
                <a:solidFill>
                  <a:schemeClr val="tx1"/>
                </a:solidFill>
              </a:rPr>
              <a:t>An airline chatbot invented a refund policy, and a tribunal made the airline honor it.</a:t>
            </a:r>
            <a:endParaRPr lang="en-US" sz="1400" dirty="0"/>
          </a:p>
        </p:txBody>
      </p:sp>
      <p:sp>
        <p:nvSpPr>
          <p:cNvPr id="15" name="Incident 2 source"/>
          <p:cNvSpPr txBox="1"/>
          <p:nvPr/>
        </p:nvSpPr>
        <p:spPr>
          <a:xfrm>
            <a:off x="4617720" y="3886200"/>
            <a:ext cx="2971800" cy="274320"/>
          </a:xfrm>
          <a:prstGeom prst="rect">
            <a:avLst/>
          </a:prstGeom>
          <a:noFill/>
          <a:ln/>
        </p:spPr>
        <p:txBody>
          <a:bodyPr wrap="square" lIns="0" tIns="0" rIns="0" bIns="0" rtlCol="0" anchor="t"/>
          <a:lstStyle/>
          <a:p>
            <a:pPr indent="0" marL="0">
              <a:buNone/>
            </a:pPr>
            <a:r>
              <a:rPr lang="en-US" sz="1100" i="1" dirty="0">
                <a:solidFill>
                  <a:schemeClr val="accent5"/>
                </a:solidFill>
              </a:rPr>
              <a:t>Air Canada, 2024</a:t>
            </a:r>
            <a:endParaRPr lang="en-US" sz="1100" dirty="0"/>
          </a:p>
        </p:txBody>
      </p:sp>
      <p:sp>
        <p:nvSpPr>
          <p:cNvPr id="16" name="Incident card 3"/>
          <p:cNvSpPr/>
          <p:nvPr/>
        </p:nvSpPr>
        <p:spPr>
          <a:xfrm>
            <a:off x="8138160" y="1783080"/>
            <a:ext cx="3520440" cy="2514600"/>
          </a:xfrm>
          <a:prstGeom prst="roundRect">
            <a:avLst>
              <a:gd name="adj" fmla="val 4364"/>
            </a:avLst>
          </a:prstGeom>
          <a:solidFill>
            <a:schemeClr val="bg2"/>
          </a:solidFill>
          <a:ln/>
        </p:spPr>
      </p:sp>
      <p:sp>
        <p:nvSpPr>
          <p:cNvPr id="17" name="Incident 3 circle"/>
          <p:cNvSpPr/>
          <p:nvPr/>
        </p:nvSpPr>
        <p:spPr>
          <a:xfrm>
            <a:off x="8412480" y="2011680"/>
            <a:ext cx="640080" cy="640080"/>
          </a:xfrm>
          <a:prstGeom prst="ellipse">
            <a:avLst/>
          </a:prstGeom>
          <a:solidFill>
            <a:schemeClr val="accent3"/>
          </a:solidFill>
          <a:ln/>
        </p:spPr>
      </p:sp>
      <p:pic>
        <p:nvPicPr>
          <p:cNvPr id="18" name="Incident 3 icon" descr="preencoded.png">    </p:cNvPr>
          <p:cNvPicPr>
            <a:picLocks noChangeAspect="1"/>
          </p:cNvPicPr>
          <p:nvPr/>
        </p:nvPicPr>
        <p:blipFill>
          <a:blip r:embed="rId3"/>
          <a:stretch>
            <a:fillRect/>
          </a:stretch>
        </p:blipFill>
        <p:spPr>
          <a:xfrm>
            <a:off x="8585302" y="2184502"/>
            <a:ext cx="294437" cy="294437"/>
          </a:xfrm>
          <a:prstGeom prst="rect">
            <a:avLst/>
          </a:prstGeom>
        </p:spPr>
      </p:pic>
      <p:sp>
        <p:nvSpPr>
          <p:cNvPr id="19" name="Incident 3 title"/>
          <p:cNvSpPr txBox="1"/>
          <p:nvPr/>
        </p:nvSpPr>
        <p:spPr>
          <a:xfrm>
            <a:off x="9189720" y="2011680"/>
            <a:ext cx="2286000" cy="640080"/>
          </a:xfrm>
          <a:prstGeom prst="rect">
            <a:avLst/>
          </a:prstGeom>
          <a:noFill/>
          <a:ln/>
        </p:spPr>
        <p:txBody>
          <a:bodyPr wrap="square" lIns="0" tIns="0" rIns="0" bIns="0" rtlCol="0" anchor="ctr"/>
          <a:lstStyle/>
          <a:p>
            <a:pPr indent="0" marL="0">
              <a:buNone/>
            </a:pPr>
            <a:r>
              <a:rPr lang="en-US" sz="1800" b="1" dirty="0">
                <a:solidFill>
                  <a:schemeClr val="tx2"/>
                </a:solidFill>
              </a:rPr>
              <a:t>Spent without limits</a:t>
            </a:r>
            <a:endParaRPr lang="en-US" sz="1800" dirty="0"/>
          </a:p>
        </p:txBody>
      </p:sp>
      <p:sp>
        <p:nvSpPr>
          <p:cNvPr id="20" name="Incident 3 text"/>
          <p:cNvSpPr txBox="1"/>
          <p:nvPr/>
        </p:nvSpPr>
        <p:spPr>
          <a:xfrm>
            <a:off x="8412480" y="2834640"/>
            <a:ext cx="2971800" cy="1005840"/>
          </a:xfrm>
          <a:prstGeom prst="rect">
            <a:avLst/>
          </a:prstGeom>
          <a:noFill/>
          <a:ln/>
        </p:spPr>
        <p:txBody>
          <a:bodyPr wrap="square" lIns="0" tIns="0" rIns="0" bIns="0" rtlCol="0" anchor="t"/>
          <a:lstStyle/>
          <a:p>
            <a:pPr indent="0" marL="0">
              <a:buNone/>
            </a:pPr>
            <a:r>
              <a:rPr lang="en-US" sz="1400" dirty="0">
                <a:solidFill>
                  <a:schemeClr val="tx1"/>
                </a:solidFill>
              </a:rPr>
              <a:t>An agent stuck in a loop can call paid AI models thousands of times overnight.</a:t>
            </a:r>
            <a:endParaRPr lang="en-US" sz="1400" dirty="0"/>
          </a:p>
        </p:txBody>
      </p:sp>
      <p:sp>
        <p:nvSpPr>
          <p:cNvPr id="21" name="Incident 3 source"/>
          <p:cNvSpPr txBox="1"/>
          <p:nvPr/>
        </p:nvSpPr>
        <p:spPr>
          <a:xfrm>
            <a:off x="8412480" y="3886200"/>
            <a:ext cx="2971800" cy="274320"/>
          </a:xfrm>
          <a:prstGeom prst="rect">
            <a:avLst/>
          </a:prstGeom>
          <a:noFill/>
          <a:ln/>
        </p:spPr>
        <p:txBody>
          <a:bodyPr wrap="square" lIns="0" tIns="0" rIns="0" bIns="0" rtlCol="0" anchor="t"/>
          <a:lstStyle/>
          <a:p>
            <a:pPr indent="0" marL="0">
              <a:buNone/>
            </a:pPr>
            <a:r>
              <a:rPr lang="en-US" sz="1100" i="1" dirty="0">
                <a:solidFill>
                  <a:schemeClr val="accent5"/>
                </a:solidFill>
              </a:rPr>
              <a:t>Common failure pattern</a:t>
            </a:r>
            <a:endParaRPr lang="en-US" sz="1100" dirty="0"/>
          </a:p>
        </p:txBody>
      </p:sp>
      <p:sp>
        <p:nvSpPr>
          <p:cNvPr id="22" name="Questions label"/>
          <p:cNvSpPr txBox="1"/>
          <p:nvPr/>
        </p:nvSpPr>
        <p:spPr>
          <a:xfrm>
            <a:off x="548640" y="4572000"/>
            <a:ext cx="11064240" cy="365760"/>
          </a:xfrm>
          <a:prstGeom prst="rect">
            <a:avLst/>
          </a:prstGeom>
          <a:noFill/>
          <a:ln/>
        </p:spPr>
        <p:txBody>
          <a:bodyPr wrap="square" lIns="0" tIns="0" rIns="0" bIns="0" rtlCol="0" anchor="t"/>
          <a:lstStyle/>
          <a:p>
            <a:pPr indent="0" marL="0">
              <a:buNone/>
            </a:pPr>
            <a:r>
              <a:rPr lang="en-US" sz="1600" b="1" dirty="0">
                <a:solidFill>
                  <a:schemeClr val="tx2"/>
                </a:solidFill>
              </a:rPr>
              <a:t>Questions most companies can’t answer today</a:t>
            </a:r>
            <a:endParaRPr lang="en-US" sz="1600" dirty="0"/>
          </a:p>
        </p:txBody>
      </p:sp>
      <p:sp>
        <p:nvSpPr>
          <p:cNvPr id="23" name="Question 1 box"/>
          <p:cNvSpPr/>
          <p:nvPr/>
        </p:nvSpPr>
        <p:spPr>
          <a:xfrm>
            <a:off x="548640" y="5029200"/>
            <a:ext cx="2606040" cy="822960"/>
          </a:xfrm>
          <a:prstGeom prst="roundRect">
            <a:avLst>
              <a:gd name="adj" fmla="val 13333"/>
            </a:avLst>
          </a:prstGeom>
          <a:solidFill>
            <a:schemeClr val="bg1"/>
          </a:solidFill>
          <a:ln w="12700">
            <a:solidFill>
              <a:srgbClr val="5B6B80"/>
            </a:solidFill>
            <a:prstDash val="solid"/>
          </a:ln>
        </p:spPr>
      </p:sp>
      <p:sp>
        <p:nvSpPr>
          <p:cNvPr id="24" name="Question 1"/>
          <p:cNvSpPr txBox="1"/>
          <p:nvPr/>
        </p:nvSpPr>
        <p:spPr>
          <a:xfrm>
            <a:off x="685800" y="5029200"/>
            <a:ext cx="2331720" cy="822960"/>
          </a:xfrm>
          <a:prstGeom prst="rect">
            <a:avLst/>
          </a:prstGeom>
          <a:noFill/>
          <a:ln/>
        </p:spPr>
        <p:txBody>
          <a:bodyPr wrap="square" lIns="0" tIns="0" rIns="0" bIns="0" rtlCol="0" anchor="ctr"/>
          <a:lstStyle/>
          <a:p>
            <a:pPr algn="ctr" indent="0" marL="0">
              <a:buNone/>
            </a:pPr>
            <a:r>
              <a:rPr lang="en-US" sz="1500" b="1" dirty="0">
                <a:solidFill>
                  <a:schemeClr val="tx2"/>
                </a:solidFill>
              </a:rPr>
              <a:t>What are my agents doing?</a:t>
            </a:r>
            <a:endParaRPr lang="en-US" sz="1500" dirty="0"/>
          </a:p>
        </p:txBody>
      </p:sp>
      <p:sp>
        <p:nvSpPr>
          <p:cNvPr id="25" name="Question 2 box"/>
          <p:cNvSpPr/>
          <p:nvPr/>
        </p:nvSpPr>
        <p:spPr>
          <a:xfrm>
            <a:off x="3360420" y="5029200"/>
            <a:ext cx="2606040" cy="822960"/>
          </a:xfrm>
          <a:prstGeom prst="roundRect">
            <a:avLst>
              <a:gd name="adj" fmla="val 13333"/>
            </a:avLst>
          </a:prstGeom>
          <a:solidFill>
            <a:schemeClr val="bg1"/>
          </a:solidFill>
          <a:ln w="12700">
            <a:solidFill>
              <a:srgbClr val="5B6B80"/>
            </a:solidFill>
            <a:prstDash val="solid"/>
          </a:ln>
        </p:spPr>
      </p:sp>
      <p:sp>
        <p:nvSpPr>
          <p:cNvPr id="26" name="Question 2"/>
          <p:cNvSpPr txBox="1"/>
          <p:nvPr/>
        </p:nvSpPr>
        <p:spPr>
          <a:xfrm>
            <a:off x="3497580" y="5029200"/>
            <a:ext cx="2331720" cy="822960"/>
          </a:xfrm>
          <a:prstGeom prst="rect">
            <a:avLst/>
          </a:prstGeom>
          <a:noFill/>
          <a:ln/>
        </p:spPr>
        <p:txBody>
          <a:bodyPr wrap="square" lIns="0" tIns="0" rIns="0" bIns="0" rtlCol="0" anchor="ctr"/>
          <a:lstStyle/>
          <a:p>
            <a:pPr algn="ctr" indent="0" marL="0">
              <a:buNone/>
            </a:pPr>
            <a:r>
              <a:rPr lang="en-US" sz="1500" b="1" dirty="0">
                <a:solidFill>
                  <a:schemeClr val="tx2"/>
                </a:solidFill>
              </a:rPr>
              <a:t>What are they allowed to do?</a:t>
            </a:r>
            <a:endParaRPr lang="en-US" sz="1500" dirty="0"/>
          </a:p>
        </p:txBody>
      </p:sp>
      <p:sp>
        <p:nvSpPr>
          <p:cNvPr id="27" name="Question 3 box"/>
          <p:cNvSpPr/>
          <p:nvPr/>
        </p:nvSpPr>
        <p:spPr>
          <a:xfrm>
            <a:off x="6172200" y="5029200"/>
            <a:ext cx="2606040" cy="822960"/>
          </a:xfrm>
          <a:prstGeom prst="roundRect">
            <a:avLst>
              <a:gd name="adj" fmla="val 13333"/>
            </a:avLst>
          </a:prstGeom>
          <a:solidFill>
            <a:schemeClr val="bg1"/>
          </a:solidFill>
          <a:ln w="12700">
            <a:solidFill>
              <a:srgbClr val="5B6B80"/>
            </a:solidFill>
            <a:prstDash val="solid"/>
          </a:ln>
        </p:spPr>
      </p:sp>
      <p:sp>
        <p:nvSpPr>
          <p:cNvPr id="28" name="Question 3"/>
          <p:cNvSpPr txBox="1"/>
          <p:nvPr/>
        </p:nvSpPr>
        <p:spPr>
          <a:xfrm>
            <a:off x="6309360" y="5029200"/>
            <a:ext cx="2331720" cy="822960"/>
          </a:xfrm>
          <a:prstGeom prst="rect">
            <a:avLst/>
          </a:prstGeom>
          <a:noFill/>
          <a:ln/>
        </p:spPr>
        <p:txBody>
          <a:bodyPr wrap="square" lIns="0" tIns="0" rIns="0" bIns="0" rtlCol="0" anchor="ctr"/>
          <a:lstStyle/>
          <a:p>
            <a:pPr algn="ctr" indent="0" marL="0">
              <a:buNone/>
            </a:pPr>
            <a:r>
              <a:rPr lang="en-US" sz="1500" b="1" dirty="0">
                <a:solidFill>
                  <a:schemeClr val="tx2"/>
                </a:solidFill>
              </a:rPr>
              <a:t>What are they spending?</a:t>
            </a:r>
            <a:endParaRPr lang="en-US" sz="1500" dirty="0"/>
          </a:p>
        </p:txBody>
      </p:sp>
      <p:sp>
        <p:nvSpPr>
          <p:cNvPr id="29" name="Question 4 box"/>
          <p:cNvSpPr/>
          <p:nvPr/>
        </p:nvSpPr>
        <p:spPr>
          <a:xfrm>
            <a:off x="8983980" y="5029200"/>
            <a:ext cx="2606040" cy="822960"/>
          </a:xfrm>
          <a:prstGeom prst="roundRect">
            <a:avLst>
              <a:gd name="adj" fmla="val 13333"/>
            </a:avLst>
          </a:prstGeom>
          <a:solidFill>
            <a:schemeClr val="bg1"/>
          </a:solidFill>
          <a:ln w="12700">
            <a:solidFill>
              <a:srgbClr val="5B6B80"/>
            </a:solidFill>
            <a:prstDash val="solid"/>
          </a:ln>
        </p:spPr>
      </p:sp>
      <p:sp>
        <p:nvSpPr>
          <p:cNvPr id="30" name="Question 4"/>
          <p:cNvSpPr txBox="1"/>
          <p:nvPr/>
        </p:nvSpPr>
        <p:spPr>
          <a:xfrm>
            <a:off x="9121140" y="5029200"/>
            <a:ext cx="2331720" cy="822960"/>
          </a:xfrm>
          <a:prstGeom prst="rect">
            <a:avLst/>
          </a:prstGeom>
          <a:noFill/>
          <a:ln/>
        </p:spPr>
        <p:txBody>
          <a:bodyPr wrap="square" lIns="0" tIns="0" rIns="0" bIns="0" rtlCol="0" anchor="ctr"/>
          <a:lstStyle/>
          <a:p>
            <a:pPr algn="ctr" indent="0" marL="0">
              <a:buNone/>
            </a:pPr>
            <a:r>
              <a:rPr lang="en-US" sz="1500" b="1" dirty="0">
                <a:solidFill>
                  <a:schemeClr val="tx2"/>
                </a:solidFill>
              </a:rPr>
              <a:t>Who approved that action?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AgentGuard: one control layer for every AI agent</a:t>
            </a:r>
            <a:endParaRPr lang="en-US" sz="3200" dirty="0"/>
          </a:p>
        </p:txBody>
      </p:sp>
      <p:sp>
        <p:nvSpPr>
          <p:cNvPr id="3" name="Solution intro"/>
          <p:cNvSpPr txBox="1"/>
          <p:nvPr/>
        </p:nvSpPr>
        <p:spPr>
          <a:xfrm>
            <a:off x="548640" y="1234440"/>
            <a:ext cx="11064240" cy="365760"/>
          </a:xfrm>
          <a:prstGeom prst="rect">
            <a:avLst/>
          </a:prstGeom>
          <a:noFill/>
          <a:ln/>
        </p:spPr>
        <p:txBody>
          <a:bodyPr wrap="square" lIns="0" tIns="0" rIns="0" bIns="0" rtlCol="0" anchor="t"/>
          <a:lstStyle/>
          <a:p>
            <a:pPr indent="0" marL="0">
              <a:buNone/>
            </a:pPr>
            <a:r>
              <a:rPr lang="en-US" sz="1600" dirty="0">
                <a:solidFill>
                  <a:schemeClr val="accent5"/>
                </a:solidFill>
              </a:rPr>
              <a:t>Connect your agents once. Then:</a:t>
            </a:r>
            <a:endParaRPr lang="en-US" sz="1600" dirty="0"/>
          </a:p>
        </p:txBody>
      </p:sp>
      <p:sp>
        <p:nvSpPr>
          <p:cNvPr id="4" name="Feature card 1"/>
          <p:cNvSpPr/>
          <p:nvPr/>
        </p:nvSpPr>
        <p:spPr>
          <a:xfrm>
            <a:off x="548640" y="1828800"/>
            <a:ext cx="2057400" cy="2926080"/>
          </a:xfrm>
          <a:prstGeom prst="roundRect">
            <a:avLst>
              <a:gd name="adj" fmla="val 5333"/>
            </a:avLst>
          </a:prstGeom>
          <a:solidFill>
            <a:schemeClr val="bg2"/>
          </a:solidFill>
          <a:ln/>
        </p:spPr>
      </p:sp>
      <p:sp>
        <p:nvSpPr>
          <p:cNvPr id="5" name="Feature 1 circle"/>
          <p:cNvSpPr/>
          <p:nvPr/>
        </p:nvSpPr>
        <p:spPr>
          <a:xfrm>
            <a:off x="1143000" y="2103120"/>
            <a:ext cx="868680" cy="868680"/>
          </a:xfrm>
          <a:prstGeom prst="ellipse">
            <a:avLst/>
          </a:prstGeom>
          <a:solidFill>
            <a:schemeClr val="accent1"/>
          </a:solidFill>
          <a:ln/>
        </p:spPr>
      </p:sp>
      <p:pic>
        <p:nvPicPr>
          <p:cNvPr id="6" name="Feature 1 icon" descr="preencoded.png">    </p:cNvPr>
          <p:cNvPicPr>
            <a:picLocks noChangeAspect="1"/>
          </p:cNvPicPr>
          <p:nvPr/>
        </p:nvPicPr>
        <p:blipFill>
          <a:blip r:embed="rId1"/>
          <a:stretch>
            <a:fillRect/>
          </a:stretch>
        </p:blipFill>
        <p:spPr>
          <a:xfrm>
            <a:off x="1377544" y="2337664"/>
            <a:ext cx="399593" cy="399593"/>
          </a:xfrm>
          <a:prstGeom prst="rect">
            <a:avLst/>
          </a:prstGeom>
        </p:spPr>
      </p:pic>
      <p:sp>
        <p:nvSpPr>
          <p:cNvPr id="7" name="Feature 1 title"/>
          <p:cNvSpPr txBox="1"/>
          <p:nvPr/>
        </p:nvSpPr>
        <p:spPr>
          <a:xfrm>
            <a:off x="685800" y="3108960"/>
            <a:ext cx="1783080" cy="411480"/>
          </a:xfrm>
          <a:prstGeom prst="rect">
            <a:avLst/>
          </a:prstGeom>
          <a:noFill/>
          <a:ln/>
        </p:spPr>
        <p:txBody>
          <a:bodyPr wrap="square" lIns="0" tIns="0" rIns="0" bIns="0" rtlCol="0" anchor="t"/>
          <a:lstStyle/>
          <a:p>
            <a:pPr algn="ctr" indent="0" marL="0">
              <a:buNone/>
            </a:pPr>
            <a:r>
              <a:rPr lang="en-US" sz="2200" b="1" dirty="0">
                <a:solidFill>
                  <a:schemeClr val="tx2"/>
                </a:solidFill>
              </a:rPr>
              <a:t>See</a:t>
            </a:r>
            <a:endParaRPr lang="en-US" sz="2200" dirty="0"/>
          </a:p>
        </p:txBody>
      </p:sp>
      <p:sp>
        <p:nvSpPr>
          <p:cNvPr id="8" name="Feature 1 text"/>
          <p:cNvSpPr txBox="1"/>
          <p:nvPr/>
        </p:nvSpPr>
        <p:spPr>
          <a:xfrm>
            <a:off x="731520" y="3611880"/>
            <a:ext cx="1691640" cy="1005840"/>
          </a:xfrm>
          <a:prstGeom prst="rect">
            <a:avLst/>
          </a:prstGeom>
          <a:noFill/>
          <a:ln/>
        </p:spPr>
        <p:txBody>
          <a:bodyPr wrap="square" lIns="0" tIns="0" rIns="0" bIns="0" rtlCol="0" anchor="t"/>
          <a:lstStyle/>
          <a:p>
            <a:pPr algn="ctr" indent="0" marL="0">
              <a:buNone/>
            </a:pPr>
            <a:r>
              <a:rPr lang="en-US" sz="1400" dirty="0">
                <a:solidFill>
                  <a:schemeClr val="tx1"/>
                </a:solidFill>
              </a:rPr>
              <a:t>Every action, response and cost, in one live log</a:t>
            </a:r>
            <a:endParaRPr lang="en-US" sz="1400" dirty="0"/>
          </a:p>
        </p:txBody>
      </p:sp>
      <p:sp>
        <p:nvSpPr>
          <p:cNvPr id="9" name="Feature card 2"/>
          <p:cNvSpPr/>
          <p:nvPr/>
        </p:nvSpPr>
        <p:spPr>
          <a:xfrm>
            <a:off x="2811780" y="1828800"/>
            <a:ext cx="2057400" cy="2926080"/>
          </a:xfrm>
          <a:prstGeom prst="roundRect">
            <a:avLst>
              <a:gd name="adj" fmla="val 5333"/>
            </a:avLst>
          </a:prstGeom>
          <a:solidFill>
            <a:schemeClr val="bg2"/>
          </a:solidFill>
          <a:ln/>
        </p:spPr>
      </p:sp>
      <p:sp>
        <p:nvSpPr>
          <p:cNvPr id="10" name="Feature 2 circle"/>
          <p:cNvSpPr/>
          <p:nvPr/>
        </p:nvSpPr>
        <p:spPr>
          <a:xfrm>
            <a:off x="3406140" y="2103120"/>
            <a:ext cx="868680" cy="868680"/>
          </a:xfrm>
          <a:prstGeom prst="ellipse">
            <a:avLst/>
          </a:prstGeom>
          <a:solidFill>
            <a:schemeClr val="accent1"/>
          </a:solidFill>
          <a:ln/>
        </p:spPr>
      </p:sp>
      <p:pic>
        <p:nvPicPr>
          <p:cNvPr id="11" name="Feature 2 icon" descr="preencoded.png">    </p:cNvPr>
          <p:cNvPicPr>
            <a:picLocks noChangeAspect="1"/>
          </p:cNvPicPr>
          <p:nvPr/>
        </p:nvPicPr>
        <p:blipFill>
          <a:blip r:embed="rId2"/>
          <a:stretch>
            <a:fillRect/>
          </a:stretch>
        </p:blipFill>
        <p:spPr>
          <a:xfrm>
            <a:off x="3640684" y="2337664"/>
            <a:ext cx="399593" cy="399593"/>
          </a:xfrm>
          <a:prstGeom prst="rect">
            <a:avLst/>
          </a:prstGeom>
        </p:spPr>
      </p:pic>
      <p:sp>
        <p:nvSpPr>
          <p:cNvPr id="12" name="Feature 2 title"/>
          <p:cNvSpPr txBox="1"/>
          <p:nvPr/>
        </p:nvSpPr>
        <p:spPr>
          <a:xfrm>
            <a:off x="2948940" y="3108960"/>
            <a:ext cx="1783080" cy="411480"/>
          </a:xfrm>
          <a:prstGeom prst="rect">
            <a:avLst/>
          </a:prstGeom>
          <a:noFill/>
          <a:ln/>
        </p:spPr>
        <p:txBody>
          <a:bodyPr wrap="square" lIns="0" tIns="0" rIns="0" bIns="0" rtlCol="0" anchor="t"/>
          <a:lstStyle/>
          <a:p>
            <a:pPr algn="ctr" indent="0" marL="0">
              <a:buNone/>
            </a:pPr>
            <a:r>
              <a:rPr lang="en-US" sz="2200" b="1" dirty="0">
                <a:solidFill>
                  <a:schemeClr val="tx2"/>
                </a:solidFill>
              </a:rPr>
              <a:t>Control</a:t>
            </a:r>
            <a:endParaRPr lang="en-US" sz="2200" dirty="0"/>
          </a:p>
        </p:txBody>
      </p:sp>
      <p:sp>
        <p:nvSpPr>
          <p:cNvPr id="13" name="Feature 2 text"/>
          <p:cNvSpPr txBox="1"/>
          <p:nvPr/>
        </p:nvSpPr>
        <p:spPr>
          <a:xfrm>
            <a:off x="2994660" y="3611880"/>
            <a:ext cx="1691640" cy="1005840"/>
          </a:xfrm>
          <a:prstGeom prst="rect">
            <a:avLst/>
          </a:prstGeom>
          <a:noFill/>
          <a:ln/>
        </p:spPr>
        <p:txBody>
          <a:bodyPr wrap="square" lIns="0" tIns="0" rIns="0" bIns="0" rtlCol="0" anchor="t"/>
          <a:lstStyle/>
          <a:p>
            <a:pPr algn="ctr" indent="0" marL="0">
              <a:buNone/>
            </a:pPr>
            <a:r>
              <a:rPr lang="en-US" sz="1400" dirty="0">
                <a:solidFill>
                  <a:schemeClr val="tx1"/>
                </a:solidFill>
              </a:rPr>
              <a:t>Which tools and data each agent may use</a:t>
            </a:r>
            <a:endParaRPr lang="en-US" sz="1400" dirty="0"/>
          </a:p>
        </p:txBody>
      </p:sp>
      <p:sp>
        <p:nvSpPr>
          <p:cNvPr id="14" name="Feature card 3"/>
          <p:cNvSpPr/>
          <p:nvPr/>
        </p:nvSpPr>
        <p:spPr>
          <a:xfrm>
            <a:off x="5074920" y="1828800"/>
            <a:ext cx="2057400" cy="2926080"/>
          </a:xfrm>
          <a:prstGeom prst="roundRect">
            <a:avLst>
              <a:gd name="adj" fmla="val 5333"/>
            </a:avLst>
          </a:prstGeom>
          <a:solidFill>
            <a:schemeClr val="bg2"/>
          </a:solidFill>
          <a:ln/>
        </p:spPr>
      </p:sp>
      <p:sp>
        <p:nvSpPr>
          <p:cNvPr id="15" name="Feature 3 circle"/>
          <p:cNvSpPr/>
          <p:nvPr/>
        </p:nvSpPr>
        <p:spPr>
          <a:xfrm>
            <a:off x="5669280" y="2103120"/>
            <a:ext cx="868680" cy="868680"/>
          </a:xfrm>
          <a:prstGeom prst="ellipse">
            <a:avLst/>
          </a:prstGeom>
          <a:solidFill>
            <a:schemeClr val="accent1"/>
          </a:solidFill>
          <a:ln/>
        </p:spPr>
      </p:sp>
      <p:pic>
        <p:nvPicPr>
          <p:cNvPr id="16" name="Feature 3 icon" descr="preencoded.png">    </p:cNvPr>
          <p:cNvPicPr>
            <a:picLocks noChangeAspect="1"/>
          </p:cNvPicPr>
          <p:nvPr/>
        </p:nvPicPr>
        <p:blipFill>
          <a:blip r:embed="rId3"/>
          <a:stretch>
            <a:fillRect/>
          </a:stretch>
        </p:blipFill>
        <p:spPr>
          <a:xfrm>
            <a:off x="5903824" y="2337664"/>
            <a:ext cx="399593" cy="399593"/>
          </a:xfrm>
          <a:prstGeom prst="rect">
            <a:avLst/>
          </a:prstGeom>
        </p:spPr>
      </p:pic>
      <p:sp>
        <p:nvSpPr>
          <p:cNvPr id="17" name="Feature 3 title"/>
          <p:cNvSpPr txBox="1"/>
          <p:nvPr/>
        </p:nvSpPr>
        <p:spPr>
          <a:xfrm>
            <a:off x="5212080" y="3108960"/>
            <a:ext cx="1783080" cy="411480"/>
          </a:xfrm>
          <a:prstGeom prst="rect">
            <a:avLst/>
          </a:prstGeom>
          <a:noFill/>
          <a:ln/>
        </p:spPr>
        <p:txBody>
          <a:bodyPr wrap="square" lIns="0" tIns="0" rIns="0" bIns="0" rtlCol="0" anchor="t"/>
          <a:lstStyle/>
          <a:p>
            <a:pPr algn="ctr" indent="0" marL="0">
              <a:buNone/>
            </a:pPr>
            <a:r>
              <a:rPr lang="en-US" sz="2200" b="1" dirty="0">
                <a:solidFill>
                  <a:schemeClr val="tx2"/>
                </a:solidFill>
              </a:rPr>
              <a:t>Limit</a:t>
            </a:r>
            <a:endParaRPr lang="en-US" sz="2200" dirty="0"/>
          </a:p>
        </p:txBody>
      </p:sp>
      <p:sp>
        <p:nvSpPr>
          <p:cNvPr id="18" name="Feature 3 text"/>
          <p:cNvSpPr txBox="1"/>
          <p:nvPr/>
        </p:nvSpPr>
        <p:spPr>
          <a:xfrm>
            <a:off x="5257800" y="3611880"/>
            <a:ext cx="1691640" cy="1005840"/>
          </a:xfrm>
          <a:prstGeom prst="rect">
            <a:avLst/>
          </a:prstGeom>
          <a:noFill/>
          <a:ln/>
        </p:spPr>
        <p:txBody>
          <a:bodyPr wrap="square" lIns="0" tIns="0" rIns="0" bIns="0" rtlCol="0" anchor="t"/>
          <a:lstStyle/>
          <a:p>
            <a:pPr algn="ctr" indent="0" marL="0">
              <a:buNone/>
            </a:pPr>
            <a:r>
              <a:rPr lang="en-US" sz="1400" dirty="0">
                <a:solidFill>
                  <a:schemeClr val="tx1"/>
                </a:solidFill>
              </a:rPr>
              <a:t>Budgets for AI cost and real money, per agent and per customer</a:t>
            </a:r>
            <a:endParaRPr lang="en-US" sz="1400" dirty="0"/>
          </a:p>
        </p:txBody>
      </p:sp>
      <p:sp>
        <p:nvSpPr>
          <p:cNvPr id="19" name="Feature card 4"/>
          <p:cNvSpPr/>
          <p:nvPr/>
        </p:nvSpPr>
        <p:spPr>
          <a:xfrm>
            <a:off x="7338060" y="1828800"/>
            <a:ext cx="2057400" cy="2926080"/>
          </a:xfrm>
          <a:prstGeom prst="roundRect">
            <a:avLst>
              <a:gd name="adj" fmla="val 5333"/>
            </a:avLst>
          </a:prstGeom>
          <a:solidFill>
            <a:schemeClr val="bg2"/>
          </a:solidFill>
          <a:ln/>
        </p:spPr>
      </p:sp>
      <p:sp>
        <p:nvSpPr>
          <p:cNvPr id="20" name="Feature 4 circle"/>
          <p:cNvSpPr/>
          <p:nvPr/>
        </p:nvSpPr>
        <p:spPr>
          <a:xfrm>
            <a:off x="7932420" y="2103120"/>
            <a:ext cx="868680" cy="868680"/>
          </a:xfrm>
          <a:prstGeom prst="ellipse">
            <a:avLst/>
          </a:prstGeom>
          <a:solidFill>
            <a:schemeClr val="accent1"/>
          </a:solidFill>
          <a:ln/>
        </p:spPr>
      </p:sp>
      <p:pic>
        <p:nvPicPr>
          <p:cNvPr id="21" name="Feature 4 icon" descr="preencoded.png">    </p:cNvPr>
          <p:cNvPicPr>
            <a:picLocks noChangeAspect="1"/>
          </p:cNvPicPr>
          <p:nvPr/>
        </p:nvPicPr>
        <p:blipFill>
          <a:blip r:embed="rId4"/>
          <a:stretch>
            <a:fillRect/>
          </a:stretch>
        </p:blipFill>
        <p:spPr>
          <a:xfrm>
            <a:off x="8166964" y="2337664"/>
            <a:ext cx="399593" cy="399593"/>
          </a:xfrm>
          <a:prstGeom prst="rect">
            <a:avLst/>
          </a:prstGeom>
        </p:spPr>
      </p:pic>
      <p:sp>
        <p:nvSpPr>
          <p:cNvPr id="22" name="Feature 4 title"/>
          <p:cNvSpPr txBox="1"/>
          <p:nvPr/>
        </p:nvSpPr>
        <p:spPr>
          <a:xfrm>
            <a:off x="7475220" y="3108960"/>
            <a:ext cx="1783080" cy="411480"/>
          </a:xfrm>
          <a:prstGeom prst="rect">
            <a:avLst/>
          </a:prstGeom>
          <a:noFill/>
          <a:ln/>
        </p:spPr>
        <p:txBody>
          <a:bodyPr wrap="square" lIns="0" tIns="0" rIns="0" bIns="0" rtlCol="0" anchor="t"/>
          <a:lstStyle/>
          <a:p>
            <a:pPr algn="ctr" indent="0" marL="0">
              <a:buNone/>
            </a:pPr>
            <a:r>
              <a:rPr lang="en-US" sz="2200" b="1" dirty="0">
                <a:solidFill>
                  <a:schemeClr val="tx2"/>
                </a:solidFill>
              </a:rPr>
              <a:t>Approve</a:t>
            </a:r>
            <a:endParaRPr lang="en-US" sz="2200" dirty="0"/>
          </a:p>
        </p:txBody>
      </p:sp>
      <p:sp>
        <p:nvSpPr>
          <p:cNvPr id="23" name="Feature 4 text"/>
          <p:cNvSpPr txBox="1"/>
          <p:nvPr/>
        </p:nvSpPr>
        <p:spPr>
          <a:xfrm>
            <a:off x="7520940" y="3611880"/>
            <a:ext cx="1691640" cy="1005840"/>
          </a:xfrm>
          <a:prstGeom prst="rect">
            <a:avLst/>
          </a:prstGeom>
          <a:noFill/>
          <a:ln/>
        </p:spPr>
        <p:txBody>
          <a:bodyPr wrap="square" lIns="0" tIns="0" rIns="0" bIns="0" rtlCol="0" anchor="t"/>
          <a:lstStyle/>
          <a:p>
            <a:pPr algn="ctr" indent="0" marL="0">
              <a:buNone/>
            </a:pPr>
            <a:r>
              <a:rPr lang="en-US" sz="1400" dirty="0">
                <a:solidFill>
                  <a:schemeClr val="tx1"/>
                </a:solidFill>
              </a:rPr>
              <a:t>Risky actions wait for a person, in Slack or email</a:t>
            </a:r>
            <a:endParaRPr lang="en-US" sz="1400" dirty="0"/>
          </a:p>
        </p:txBody>
      </p:sp>
      <p:sp>
        <p:nvSpPr>
          <p:cNvPr id="24" name="Feature card 5"/>
          <p:cNvSpPr/>
          <p:nvPr/>
        </p:nvSpPr>
        <p:spPr>
          <a:xfrm>
            <a:off x="9601200" y="1828800"/>
            <a:ext cx="2057400" cy="2926080"/>
          </a:xfrm>
          <a:prstGeom prst="roundRect">
            <a:avLst>
              <a:gd name="adj" fmla="val 5333"/>
            </a:avLst>
          </a:prstGeom>
          <a:solidFill>
            <a:schemeClr val="bg2"/>
          </a:solidFill>
          <a:ln/>
        </p:spPr>
      </p:sp>
      <p:sp>
        <p:nvSpPr>
          <p:cNvPr id="25" name="Feature 5 circle"/>
          <p:cNvSpPr/>
          <p:nvPr/>
        </p:nvSpPr>
        <p:spPr>
          <a:xfrm>
            <a:off x="10195560" y="2103120"/>
            <a:ext cx="868680" cy="868680"/>
          </a:xfrm>
          <a:prstGeom prst="ellipse">
            <a:avLst/>
          </a:prstGeom>
          <a:solidFill>
            <a:schemeClr val="accent1"/>
          </a:solidFill>
          <a:ln/>
        </p:spPr>
      </p:sp>
      <p:pic>
        <p:nvPicPr>
          <p:cNvPr id="26" name="Feature 5 icon" descr="preencoded.png">    </p:cNvPr>
          <p:cNvPicPr>
            <a:picLocks noChangeAspect="1"/>
          </p:cNvPicPr>
          <p:nvPr/>
        </p:nvPicPr>
        <p:blipFill>
          <a:blip r:embed="rId5"/>
          <a:stretch>
            <a:fillRect/>
          </a:stretch>
        </p:blipFill>
        <p:spPr>
          <a:xfrm>
            <a:off x="10430104" y="2337664"/>
            <a:ext cx="399593" cy="399593"/>
          </a:xfrm>
          <a:prstGeom prst="rect">
            <a:avLst/>
          </a:prstGeom>
        </p:spPr>
      </p:pic>
      <p:sp>
        <p:nvSpPr>
          <p:cNvPr id="27" name="Feature 5 title"/>
          <p:cNvSpPr txBox="1"/>
          <p:nvPr/>
        </p:nvSpPr>
        <p:spPr>
          <a:xfrm>
            <a:off x="9738360" y="3108960"/>
            <a:ext cx="1783080" cy="411480"/>
          </a:xfrm>
          <a:prstGeom prst="rect">
            <a:avLst/>
          </a:prstGeom>
          <a:noFill/>
          <a:ln/>
        </p:spPr>
        <p:txBody>
          <a:bodyPr wrap="square" lIns="0" tIns="0" rIns="0" bIns="0" rtlCol="0" anchor="t"/>
          <a:lstStyle/>
          <a:p>
            <a:pPr algn="ctr" indent="0" marL="0">
              <a:buNone/>
            </a:pPr>
            <a:r>
              <a:rPr lang="en-US" sz="2200" b="1" dirty="0">
                <a:solidFill>
                  <a:schemeClr val="tx2"/>
                </a:solidFill>
              </a:rPr>
              <a:t>Stop</a:t>
            </a:r>
            <a:endParaRPr lang="en-US" sz="2200" dirty="0"/>
          </a:p>
        </p:txBody>
      </p:sp>
      <p:sp>
        <p:nvSpPr>
          <p:cNvPr id="28" name="Feature 5 text"/>
          <p:cNvSpPr txBox="1"/>
          <p:nvPr/>
        </p:nvSpPr>
        <p:spPr>
          <a:xfrm>
            <a:off x="9784080" y="3611880"/>
            <a:ext cx="1691640" cy="1005840"/>
          </a:xfrm>
          <a:prstGeom prst="rect">
            <a:avLst/>
          </a:prstGeom>
          <a:noFill/>
          <a:ln/>
        </p:spPr>
        <p:txBody>
          <a:bodyPr wrap="square" lIns="0" tIns="0" rIns="0" bIns="0" rtlCol="0" anchor="t"/>
          <a:lstStyle/>
          <a:p>
            <a:pPr algn="ctr" indent="0" marL="0">
              <a:buNone/>
            </a:pPr>
            <a:r>
              <a:rPr lang="en-US" sz="1400" dirty="0">
                <a:solidFill>
                  <a:schemeClr val="tx1"/>
                </a:solidFill>
              </a:rPr>
              <a:t>Block any agent instantly with one switch</a:t>
            </a:r>
            <a:endParaRPr lang="en-US" sz="1400" dirty="0"/>
          </a:p>
        </p:txBody>
      </p:sp>
      <p:sp>
        <p:nvSpPr>
          <p:cNvPr id="29" name="Platforms band"/>
          <p:cNvSpPr/>
          <p:nvPr/>
        </p:nvSpPr>
        <p:spPr>
          <a:xfrm>
            <a:off x="548640" y="5120640"/>
            <a:ext cx="11064240" cy="777240"/>
          </a:xfrm>
          <a:prstGeom prst="roundRect">
            <a:avLst>
              <a:gd name="adj" fmla="val 14118"/>
            </a:avLst>
          </a:prstGeom>
          <a:solidFill>
            <a:schemeClr val="accent6"/>
          </a:solidFill>
          <a:ln/>
        </p:spPr>
      </p:sp>
      <p:sp>
        <p:nvSpPr>
          <p:cNvPr id="30" name="Platforms text"/>
          <p:cNvSpPr txBox="1"/>
          <p:nvPr/>
        </p:nvSpPr>
        <p:spPr>
          <a:xfrm>
            <a:off x="822960" y="5120640"/>
            <a:ext cx="10515600" cy="777240"/>
          </a:xfrm>
          <a:prstGeom prst="rect">
            <a:avLst/>
          </a:prstGeom>
          <a:noFill/>
          <a:ln/>
        </p:spPr>
        <p:txBody>
          <a:bodyPr wrap="square" lIns="0" tIns="0" rIns="0" bIns="0" rtlCol="0" anchor="ctr"/>
          <a:lstStyle/>
          <a:p>
            <a:pPr indent="0" marL="0">
              <a:buNone/>
            </a:pPr>
            <a:r>
              <a:rPr lang="en-US" sz="1700" b="1" dirty="0">
                <a:solidFill>
                  <a:schemeClr val="tx2"/>
                </a:solidFill>
              </a:rPr>
              <a:t>Works across platforms:  </a:t>
            </a:r>
            <a:pPr indent="0" marL="0">
              <a:buNone/>
            </a:pPr>
            <a:r>
              <a:rPr lang="en-US" sz="1700" dirty="0">
                <a:solidFill>
                  <a:schemeClr val="tx1"/>
                </a:solidFill>
              </a:rPr>
              <a:t>n8n  ·  Make  ·  LangChain  ·  OpenAI &amp; Claude SDKs  ·  custom code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We don’t control the agent. We control its actions.</a:t>
            </a:r>
            <a:endParaRPr lang="en-US" sz="3200" dirty="0"/>
          </a:p>
        </p:txBody>
      </p:sp>
      <p:sp>
        <p:nvSpPr>
          <p:cNvPr id="3" name="How intro"/>
          <p:cNvSpPr txBox="1"/>
          <p:nvPr/>
        </p:nvSpPr>
        <p:spPr>
          <a:xfrm>
            <a:off x="548640" y="1234440"/>
            <a:ext cx="11064240" cy="365760"/>
          </a:xfrm>
          <a:prstGeom prst="rect">
            <a:avLst/>
          </a:prstGeom>
          <a:noFill/>
          <a:ln/>
        </p:spPr>
        <p:txBody>
          <a:bodyPr wrap="square" lIns="0" tIns="0" rIns="0" bIns="0" rtlCol="0" anchor="t"/>
          <a:lstStyle/>
          <a:p>
            <a:pPr indent="0" marL="0">
              <a:buNone/>
            </a:pPr>
            <a:r>
              <a:rPr lang="en-US" sz="1600" dirty="0">
                <a:solidFill>
                  <a:schemeClr val="accent5"/>
                </a:solidFill>
              </a:rPr>
              <a:t>Every agent acts through AI models, tools and credentials. AgentGuard sits at those points.</a:t>
            </a:r>
            <a:endParaRPr lang="en-US" sz="1600" dirty="0"/>
          </a:p>
        </p:txBody>
      </p:sp>
      <p:sp>
        <p:nvSpPr>
          <p:cNvPr id="4" name="Agents box"/>
          <p:cNvSpPr/>
          <p:nvPr/>
        </p:nvSpPr>
        <p:spPr>
          <a:xfrm>
            <a:off x="548640" y="1920240"/>
            <a:ext cx="2651760" cy="3108960"/>
          </a:xfrm>
          <a:prstGeom prst="roundRect">
            <a:avLst>
              <a:gd name="adj" fmla="val 4138"/>
            </a:avLst>
          </a:prstGeom>
          <a:solidFill>
            <a:schemeClr val="bg2"/>
          </a:solidFill>
          <a:ln/>
        </p:spPr>
      </p:sp>
      <p:sp>
        <p:nvSpPr>
          <p:cNvPr id="5" name="Agents circle"/>
          <p:cNvSpPr/>
          <p:nvPr/>
        </p:nvSpPr>
        <p:spPr>
          <a:xfrm>
            <a:off x="1463040" y="2103120"/>
            <a:ext cx="777240" cy="777240"/>
          </a:xfrm>
          <a:prstGeom prst="ellipse">
            <a:avLst/>
          </a:prstGeom>
          <a:solidFill>
            <a:schemeClr val="accent4"/>
          </a:solidFill>
          <a:ln/>
        </p:spPr>
      </p:sp>
      <p:pic>
        <p:nvPicPr>
          <p:cNvPr id="6" name="Agents icon" descr="preencoded.png">    </p:cNvPr>
          <p:cNvPicPr>
            <a:picLocks noChangeAspect="1"/>
          </p:cNvPicPr>
          <p:nvPr/>
        </p:nvPicPr>
        <p:blipFill>
          <a:blip r:embed="rId1"/>
          <a:stretch>
            <a:fillRect/>
          </a:stretch>
        </p:blipFill>
        <p:spPr>
          <a:xfrm>
            <a:off x="1672895" y="2312975"/>
            <a:ext cx="357530" cy="357530"/>
          </a:xfrm>
          <a:prstGeom prst="rect">
            <a:avLst/>
          </a:prstGeom>
        </p:spPr>
      </p:pic>
      <p:sp>
        <p:nvSpPr>
          <p:cNvPr id="7" name="Agents title"/>
          <p:cNvSpPr txBox="1"/>
          <p:nvPr/>
        </p:nvSpPr>
        <p:spPr>
          <a:xfrm>
            <a:off x="685800" y="2971800"/>
            <a:ext cx="2377440" cy="365760"/>
          </a:xfrm>
          <a:prstGeom prst="rect">
            <a:avLst/>
          </a:prstGeom>
          <a:noFill/>
          <a:ln/>
        </p:spPr>
        <p:txBody>
          <a:bodyPr wrap="square" lIns="0" tIns="0" rIns="0" bIns="0" rtlCol="0" anchor="t"/>
          <a:lstStyle/>
          <a:p>
            <a:pPr algn="ctr" indent="0" marL="0">
              <a:buNone/>
            </a:pPr>
            <a:r>
              <a:rPr lang="en-US" sz="1700" b="1" dirty="0">
                <a:solidFill>
                  <a:schemeClr val="tx2"/>
                </a:solidFill>
              </a:rPr>
              <a:t>Your AI agents</a:t>
            </a:r>
            <a:endParaRPr lang="en-US" sz="1700" dirty="0"/>
          </a:p>
        </p:txBody>
      </p:sp>
      <p:sp>
        <p:nvSpPr>
          <p:cNvPr id="8" name="Agents list"/>
          <p:cNvSpPr txBox="1"/>
          <p:nvPr/>
        </p:nvSpPr>
        <p:spPr>
          <a:xfrm>
            <a:off x="685800" y="3383280"/>
            <a:ext cx="2377440" cy="1463040"/>
          </a:xfrm>
          <a:prstGeom prst="rect">
            <a:avLst/>
          </a:prstGeom>
          <a:noFill/>
          <a:ln/>
        </p:spPr>
        <p:txBody>
          <a:bodyPr wrap="square" lIns="0" tIns="0" rIns="0" bIns="0" rtlCol="0" anchor="t"/>
          <a:lstStyle/>
          <a:p>
            <a:pPr algn="ctr" indent="0" marL="0">
              <a:buNone/>
            </a:pPr>
            <a:r>
              <a:rPr lang="en-US" sz="1400" dirty="0">
                <a:solidFill>
                  <a:schemeClr val="tx1"/>
                </a:solidFill>
              </a:rPr>
              <a:t>n8n · Make</a:t>
            </a:r>
            <a:endParaRPr lang="en-US" sz="1400" dirty="0"/>
          </a:p>
          <a:p>
            <a:pPr algn="ctr" indent="0" marL="0">
              <a:buNone/>
            </a:pPr>
            <a:r>
              <a:rPr lang="en-US" sz="1400" dirty="0">
                <a:solidFill>
                  <a:schemeClr val="tx1"/>
                </a:solidFill>
              </a:rPr>
              <a:t>LangChain</a:t>
            </a:r>
            <a:endParaRPr lang="en-US" sz="1400" dirty="0"/>
          </a:p>
          <a:p>
            <a:pPr algn="ctr" indent="0" marL="0">
              <a:buNone/>
            </a:pPr>
            <a:r>
              <a:rPr lang="en-US" sz="1400" dirty="0">
                <a:solidFill>
                  <a:schemeClr val="tx1"/>
                </a:solidFill>
              </a:rPr>
              <a:t>OpenAI / Claude SDKs</a:t>
            </a:r>
            <a:endParaRPr lang="en-US" sz="1400" dirty="0"/>
          </a:p>
          <a:p>
            <a:pPr algn="ctr" indent="0" marL="0">
              <a:buNone/>
            </a:pPr>
            <a:r>
              <a:rPr lang="en-US" sz="1400" dirty="0">
                <a:solidFill>
                  <a:schemeClr val="tx1"/>
                </a:solidFill>
              </a:rPr>
              <a:t>Custom code</a:t>
            </a:r>
            <a:endParaRPr lang="en-US" sz="1400" dirty="0"/>
          </a:p>
        </p:txBody>
      </p:sp>
      <p:sp>
        <p:nvSpPr>
          <p:cNvPr id="9" name="AgentGuard box"/>
          <p:cNvSpPr/>
          <p:nvPr/>
        </p:nvSpPr>
        <p:spPr>
          <a:xfrm>
            <a:off x="3886200" y="1920240"/>
            <a:ext cx="4434840" cy="3108960"/>
          </a:xfrm>
          <a:prstGeom prst="roundRect">
            <a:avLst>
              <a:gd name="adj" fmla="val 3529"/>
            </a:avLst>
          </a:prstGeom>
          <a:solidFill>
            <a:schemeClr val="tx2"/>
          </a:solidFill>
          <a:ln/>
        </p:spPr>
      </p:sp>
      <p:sp>
        <p:nvSpPr>
          <p:cNvPr id="10" name="AgentGuard title"/>
          <p:cNvSpPr txBox="1"/>
          <p:nvPr/>
        </p:nvSpPr>
        <p:spPr>
          <a:xfrm>
            <a:off x="4114800" y="2057400"/>
            <a:ext cx="3977640" cy="411480"/>
          </a:xfrm>
          <a:prstGeom prst="rect">
            <a:avLst/>
          </a:prstGeom>
          <a:noFill/>
          <a:ln/>
        </p:spPr>
        <p:txBody>
          <a:bodyPr wrap="square" lIns="0" tIns="0" rIns="0" bIns="0" rtlCol="0" anchor="t"/>
          <a:lstStyle/>
          <a:p>
            <a:pPr indent="0" marL="0">
              <a:buNone/>
            </a:pPr>
            <a:r>
              <a:rPr lang="en-US" sz="1800" b="1" dirty="0">
                <a:solidFill>
                  <a:schemeClr val="bg1"/>
                </a:solidFill>
              </a:rPr>
              <a:t>AgentGuard checkpoints</a:t>
            </a:r>
            <a:endParaRPr lang="en-US" sz="1800" dirty="0"/>
          </a:p>
        </p:txBody>
      </p:sp>
      <p:sp>
        <p:nvSpPr>
          <p:cNvPr id="11" name="Checkpoint 1 circle"/>
          <p:cNvSpPr/>
          <p:nvPr/>
        </p:nvSpPr>
        <p:spPr>
          <a:xfrm>
            <a:off x="4114800" y="2606040"/>
            <a:ext cx="502920" cy="502920"/>
          </a:xfrm>
          <a:prstGeom prst="ellipse">
            <a:avLst/>
          </a:prstGeom>
          <a:solidFill>
            <a:schemeClr val="accent1"/>
          </a:solidFill>
          <a:ln/>
        </p:spPr>
      </p:sp>
      <p:pic>
        <p:nvPicPr>
          <p:cNvPr id="12" name="Checkpoint 1 icon" descr="preencoded.png">    </p:cNvPr>
          <p:cNvPicPr>
            <a:picLocks noChangeAspect="1"/>
          </p:cNvPicPr>
          <p:nvPr/>
        </p:nvPicPr>
        <p:blipFill>
          <a:blip r:embed="rId2"/>
          <a:stretch>
            <a:fillRect/>
          </a:stretch>
        </p:blipFill>
        <p:spPr>
          <a:xfrm>
            <a:off x="4250588" y="2741828"/>
            <a:ext cx="231343" cy="231343"/>
          </a:xfrm>
          <a:prstGeom prst="rect">
            <a:avLst/>
          </a:prstGeom>
        </p:spPr>
      </p:pic>
      <p:sp>
        <p:nvSpPr>
          <p:cNvPr id="13" name="Checkpoint 1 text"/>
          <p:cNvSpPr txBox="1"/>
          <p:nvPr/>
        </p:nvSpPr>
        <p:spPr>
          <a:xfrm>
            <a:off x="4754880" y="2560320"/>
            <a:ext cx="3383280" cy="594360"/>
          </a:xfrm>
          <a:prstGeom prst="rect">
            <a:avLst/>
          </a:prstGeom>
          <a:noFill/>
          <a:ln/>
        </p:spPr>
        <p:txBody>
          <a:bodyPr wrap="square" lIns="0" tIns="0" rIns="0" bIns="0" rtlCol="0" anchor="ctr"/>
          <a:lstStyle/>
          <a:p>
            <a:pPr indent="0" marL="0">
              <a:buNone/>
            </a:pPr>
            <a:r>
              <a:rPr lang="en-US" sz="1400" b="1" dirty="0">
                <a:solidFill>
                  <a:schemeClr val="bg1"/>
                </a:solidFill>
              </a:rPr>
              <a:t>AI-model gateway</a:t>
            </a:r>
            <a:endParaRPr lang="en-US" sz="1400" dirty="0"/>
          </a:p>
          <a:p>
            <a:pPr indent="0" marL="0">
              <a:buNone/>
            </a:pPr>
            <a:r>
              <a:rPr lang="en-US" sz="1400" dirty="0">
                <a:solidFill>
                  <a:schemeClr val="accent6"/>
                </a:solidFill>
              </a:rPr>
              <a:t>cost, responses</a:t>
            </a:r>
            <a:endParaRPr lang="en-US" sz="1400" dirty="0"/>
          </a:p>
        </p:txBody>
      </p:sp>
      <p:sp>
        <p:nvSpPr>
          <p:cNvPr id="14" name="Checkpoint 2 circle"/>
          <p:cNvSpPr/>
          <p:nvPr/>
        </p:nvSpPr>
        <p:spPr>
          <a:xfrm>
            <a:off x="4114800" y="3291840"/>
            <a:ext cx="502920" cy="502920"/>
          </a:xfrm>
          <a:prstGeom prst="ellipse">
            <a:avLst/>
          </a:prstGeom>
          <a:solidFill>
            <a:schemeClr val="accent1"/>
          </a:solidFill>
          <a:ln/>
        </p:spPr>
      </p:sp>
      <p:pic>
        <p:nvPicPr>
          <p:cNvPr id="15" name="Checkpoint 2 icon" descr="preencoded.png">    </p:cNvPr>
          <p:cNvPicPr>
            <a:picLocks noChangeAspect="1"/>
          </p:cNvPicPr>
          <p:nvPr/>
        </p:nvPicPr>
        <p:blipFill>
          <a:blip r:embed="rId3"/>
          <a:stretch>
            <a:fillRect/>
          </a:stretch>
        </p:blipFill>
        <p:spPr>
          <a:xfrm>
            <a:off x="4250588" y="3427628"/>
            <a:ext cx="231343" cy="231343"/>
          </a:xfrm>
          <a:prstGeom prst="rect">
            <a:avLst/>
          </a:prstGeom>
        </p:spPr>
      </p:pic>
      <p:sp>
        <p:nvSpPr>
          <p:cNvPr id="16" name="Checkpoint 2 text"/>
          <p:cNvSpPr txBox="1"/>
          <p:nvPr/>
        </p:nvSpPr>
        <p:spPr>
          <a:xfrm>
            <a:off x="4754880" y="3246120"/>
            <a:ext cx="3383280" cy="594360"/>
          </a:xfrm>
          <a:prstGeom prst="rect">
            <a:avLst/>
          </a:prstGeom>
          <a:noFill/>
          <a:ln/>
        </p:spPr>
        <p:txBody>
          <a:bodyPr wrap="square" lIns="0" tIns="0" rIns="0" bIns="0" rtlCol="0" anchor="ctr"/>
          <a:lstStyle/>
          <a:p>
            <a:pPr indent="0" marL="0">
              <a:buNone/>
            </a:pPr>
            <a:r>
              <a:rPr lang="en-US" sz="1400" b="1" dirty="0">
                <a:solidFill>
                  <a:schemeClr val="bg1"/>
                </a:solidFill>
              </a:rPr>
              <a:t>Tool gateway</a:t>
            </a:r>
            <a:endParaRPr lang="en-US" sz="1400" dirty="0"/>
          </a:p>
          <a:p>
            <a:pPr indent="0" marL="0">
              <a:buNone/>
            </a:pPr>
            <a:r>
              <a:rPr lang="en-US" sz="1400" dirty="0">
                <a:solidFill>
                  <a:schemeClr val="accent6"/>
                </a:solidFill>
              </a:rPr>
              <a:t>which tools, which data</a:t>
            </a:r>
            <a:endParaRPr lang="en-US" sz="1400" dirty="0"/>
          </a:p>
        </p:txBody>
      </p:sp>
      <p:sp>
        <p:nvSpPr>
          <p:cNvPr id="17" name="Checkpoint 3 circle"/>
          <p:cNvSpPr/>
          <p:nvPr/>
        </p:nvSpPr>
        <p:spPr>
          <a:xfrm>
            <a:off x="4114800" y="3977640"/>
            <a:ext cx="502920" cy="502920"/>
          </a:xfrm>
          <a:prstGeom prst="ellipse">
            <a:avLst/>
          </a:prstGeom>
          <a:solidFill>
            <a:schemeClr val="accent1"/>
          </a:solidFill>
          <a:ln/>
        </p:spPr>
      </p:sp>
      <p:pic>
        <p:nvPicPr>
          <p:cNvPr id="18" name="Checkpoint 3 icon" descr="preencoded.png">    </p:cNvPr>
          <p:cNvPicPr>
            <a:picLocks noChangeAspect="1"/>
          </p:cNvPicPr>
          <p:nvPr/>
        </p:nvPicPr>
        <p:blipFill>
          <a:blip r:embed="rId4"/>
          <a:stretch>
            <a:fillRect/>
          </a:stretch>
        </p:blipFill>
        <p:spPr>
          <a:xfrm>
            <a:off x="4250588" y="4113428"/>
            <a:ext cx="231343" cy="231343"/>
          </a:xfrm>
          <a:prstGeom prst="rect">
            <a:avLst/>
          </a:prstGeom>
        </p:spPr>
      </p:pic>
      <p:sp>
        <p:nvSpPr>
          <p:cNvPr id="19" name="Checkpoint 3 text"/>
          <p:cNvSpPr txBox="1"/>
          <p:nvPr/>
        </p:nvSpPr>
        <p:spPr>
          <a:xfrm>
            <a:off x="4754880" y="3931920"/>
            <a:ext cx="3383280" cy="594360"/>
          </a:xfrm>
          <a:prstGeom prst="rect">
            <a:avLst/>
          </a:prstGeom>
          <a:noFill/>
          <a:ln/>
        </p:spPr>
        <p:txBody>
          <a:bodyPr wrap="square" lIns="0" tIns="0" rIns="0" bIns="0" rtlCol="0" anchor="ctr"/>
          <a:lstStyle/>
          <a:p>
            <a:pPr indent="0" marL="0">
              <a:buNone/>
            </a:pPr>
            <a:r>
              <a:rPr lang="en-US" sz="1400" b="1" dirty="0">
                <a:solidFill>
                  <a:schemeClr val="bg1"/>
                </a:solidFill>
              </a:rPr>
              <a:t>Credential vault</a:t>
            </a:r>
            <a:endParaRPr lang="en-US" sz="1400" dirty="0"/>
          </a:p>
          <a:p>
            <a:pPr indent="0" marL="0">
              <a:buNone/>
            </a:pPr>
            <a:r>
              <a:rPr lang="en-US" sz="1400" dirty="0">
                <a:solidFill>
                  <a:schemeClr val="accent6"/>
                </a:solidFill>
              </a:rPr>
              <a:t>real keys never leave us</a:t>
            </a:r>
            <a:endParaRPr lang="en-US" sz="1400" dirty="0"/>
          </a:p>
        </p:txBody>
      </p:sp>
      <p:sp>
        <p:nvSpPr>
          <p:cNvPr id="20" name="Real world box"/>
          <p:cNvSpPr/>
          <p:nvPr/>
        </p:nvSpPr>
        <p:spPr>
          <a:xfrm>
            <a:off x="9006840" y="1920240"/>
            <a:ext cx="2606040" cy="3108960"/>
          </a:xfrm>
          <a:prstGeom prst="roundRect">
            <a:avLst>
              <a:gd name="adj" fmla="val 4211"/>
            </a:avLst>
          </a:prstGeom>
          <a:solidFill>
            <a:schemeClr val="bg2"/>
          </a:solidFill>
          <a:ln/>
        </p:spPr>
      </p:sp>
      <p:sp>
        <p:nvSpPr>
          <p:cNvPr id="21" name="Real world circle"/>
          <p:cNvSpPr/>
          <p:nvPr/>
        </p:nvSpPr>
        <p:spPr>
          <a:xfrm>
            <a:off x="9921240" y="2103120"/>
            <a:ext cx="777240" cy="777240"/>
          </a:xfrm>
          <a:prstGeom prst="ellipse">
            <a:avLst/>
          </a:prstGeom>
          <a:solidFill>
            <a:schemeClr val="accent5"/>
          </a:solidFill>
          <a:ln/>
        </p:spPr>
      </p:sp>
      <p:pic>
        <p:nvPicPr>
          <p:cNvPr id="22" name="Real world icon" descr="preencoded.png">    </p:cNvPr>
          <p:cNvPicPr>
            <a:picLocks noChangeAspect="1"/>
          </p:cNvPicPr>
          <p:nvPr/>
        </p:nvPicPr>
        <p:blipFill>
          <a:blip r:embed="rId5"/>
          <a:stretch>
            <a:fillRect/>
          </a:stretch>
        </p:blipFill>
        <p:spPr>
          <a:xfrm>
            <a:off x="10131095" y="2312975"/>
            <a:ext cx="357530" cy="357530"/>
          </a:xfrm>
          <a:prstGeom prst="rect">
            <a:avLst/>
          </a:prstGeom>
        </p:spPr>
      </p:pic>
      <p:sp>
        <p:nvSpPr>
          <p:cNvPr id="23" name="Real world title"/>
          <p:cNvSpPr txBox="1"/>
          <p:nvPr/>
        </p:nvSpPr>
        <p:spPr>
          <a:xfrm>
            <a:off x="9144000" y="2971800"/>
            <a:ext cx="2331720" cy="365760"/>
          </a:xfrm>
          <a:prstGeom prst="rect">
            <a:avLst/>
          </a:prstGeom>
          <a:noFill/>
          <a:ln/>
        </p:spPr>
        <p:txBody>
          <a:bodyPr wrap="square" lIns="0" tIns="0" rIns="0" bIns="0" rtlCol="0" anchor="t"/>
          <a:lstStyle/>
          <a:p>
            <a:pPr algn="ctr" indent="0" marL="0">
              <a:buNone/>
            </a:pPr>
            <a:r>
              <a:rPr lang="en-US" sz="1700" b="1" dirty="0">
                <a:solidFill>
                  <a:schemeClr val="tx2"/>
                </a:solidFill>
              </a:rPr>
              <a:t>The real world</a:t>
            </a:r>
            <a:endParaRPr lang="en-US" sz="1700" dirty="0"/>
          </a:p>
        </p:txBody>
      </p:sp>
      <p:sp>
        <p:nvSpPr>
          <p:cNvPr id="24" name="Real world list"/>
          <p:cNvSpPr txBox="1"/>
          <p:nvPr/>
        </p:nvSpPr>
        <p:spPr>
          <a:xfrm>
            <a:off x="9144000" y="3383280"/>
            <a:ext cx="2331720" cy="1463040"/>
          </a:xfrm>
          <a:prstGeom prst="rect">
            <a:avLst/>
          </a:prstGeom>
          <a:noFill/>
          <a:ln/>
        </p:spPr>
        <p:txBody>
          <a:bodyPr wrap="square" lIns="0" tIns="0" rIns="0" bIns="0" rtlCol="0" anchor="t"/>
          <a:lstStyle/>
          <a:p>
            <a:pPr algn="ctr" indent="0" marL="0">
              <a:buNone/>
            </a:pPr>
            <a:r>
              <a:rPr lang="en-US" sz="1400" dirty="0">
                <a:solidFill>
                  <a:schemeClr val="tx1"/>
                </a:solidFill>
              </a:rPr>
              <a:t>AI models</a:t>
            </a:r>
            <a:endParaRPr lang="en-US" sz="1400" dirty="0"/>
          </a:p>
          <a:p>
            <a:pPr algn="ctr" indent="0" marL="0">
              <a:buNone/>
            </a:pPr>
            <a:r>
              <a:rPr lang="en-US" sz="1400" dirty="0">
                <a:solidFill>
                  <a:schemeClr val="tx1"/>
                </a:solidFill>
              </a:rPr>
              <a:t>Stripe · Slack</a:t>
            </a:r>
            <a:endParaRPr lang="en-US" sz="1400" dirty="0"/>
          </a:p>
          <a:p>
            <a:pPr algn="ctr" indent="0" marL="0">
              <a:buNone/>
            </a:pPr>
            <a:r>
              <a:rPr lang="en-US" sz="1400" dirty="0">
                <a:solidFill>
                  <a:schemeClr val="tx1"/>
                </a:solidFill>
              </a:rPr>
              <a:t>CRM · email</a:t>
            </a:r>
            <a:endParaRPr lang="en-US" sz="1400" dirty="0"/>
          </a:p>
          <a:p>
            <a:pPr algn="ctr" indent="0" marL="0">
              <a:buNone/>
            </a:pPr>
            <a:r>
              <a:rPr lang="en-US" sz="1400" dirty="0">
                <a:solidFill>
                  <a:schemeClr val="tx1"/>
                </a:solidFill>
              </a:rPr>
              <a:t>Databases</a:t>
            </a:r>
            <a:endParaRPr lang="en-US" sz="1400" dirty="0"/>
          </a:p>
        </p:txBody>
      </p:sp>
      <p:sp>
        <p:nvSpPr>
          <p:cNvPr id="25" name="Arrow in"/>
          <p:cNvSpPr/>
          <p:nvPr/>
        </p:nvSpPr>
        <p:spPr>
          <a:xfrm>
            <a:off x="3246120" y="3474720"/>
            <a:ext cx="594360" cy="0"/>
          </a:xfrm>
          <a:prstGeom prst="line">
            <a:avLst/>
          </a:prstGeom>
          <a:noFill/>
          <a:ln w="31750">
            <a:solidFill>
              <a:srgbClr val="5B6B80"/>
            </a:solidFill>
            <a:prstDash val="solid"/>
            <a:tailEnd type="triangle"/>
          </a:ln>
        </p:spPr>
      </p:sp>
      <p:sp>
        <p:nvSpPr>
          <p:cNvPr id="26" name="Arrow out"/>
          <p:cNvSpPr/>
          <p:nvPr/>
        </p:nvSpPr>
        <p:spPr>
          <a:xfrm>
            <a:off x="8366760" y="3474720"/>
            <a:ext cx="594360" cy="0"/>
          </a:xfrm>
          <a:prstGeom prst="line">
            <a:avLst/>
          </a:prstGeom>
          <a:noFill/>
          <a:ln w="31750">
            <a:solidFill>
              <a:srgbClr val="5B6B80"/>
            </a:solidFill>
            <a:prstDash val="solid"/>
            <a:tailEnd type="triangle"/>
          </a:ln>
        </p:spPr>
      </p:sp>
      <p:sp>
        <p:nvSpPr>
          <p:cNvPr id="27" name="Decision ALLOW"/>
          <p:cNvSpPr/>
          <p:nvPr/>
        </p:nvSpPr>
        <p:spPr>
          <a:xfrm>
            <a:off x="3886200" y="5257800"/>
            <a:ext cx="1417320" cy="457200"/>
          </a:xfrm>
          <a:prstGeom prst="roundRect">
            <a:avLst>
              <a:gd name="adj" fmla="val 50000"/>
            </a:avLst>
          </a:prstGeom>
          <a:solidFill>
            <a:schemeClr val="accent1"/>
          </a:solidFill>
          <a:ln/>
        </p:spPr>
      </p:sp>
      <p:sp>
        <p:nvSpPr>
          <p:cNvPr id="28" name="Decision ALLOW text"/>
          <p:cNvSpPr txBox="1"/>
          <p:nvPr/>
        </p:nvSpPr>
        <p:spPr>
          <a:xfrm>
            <a:off x="3886200" y="5257800"/>
            <a:ext cx="1417320" cy="457200"/>
          </a:xfrm>
          <a:prstGeom prst="rect">
            <a:avLst/>
          </a:prstGeom>
          <a:noFill/>
          <a:ln/>
        </p:spPr>
        <p:txBody>
          <a:bodyPr wrap="square" lIns="0" tIns="0" rIns="0" bIns="0" rtlCol="0" anchor="ctr"/>
          <a:lstStyle/>
          <a:p>
            <a:pPr algn="ctr" indent="0" marL="0">
              <a:buNone/>
            </a:pPr>
            <a:r>
              <a:rPr lang="en-US" sz="1300" b="1" dirty="0">
                <a:solidFill>
                  <a:schemeClr val="bg1"/>
                </a:solidFill>
              </a:rPr>
              <a:t>ALLOW</a:t>
            </a:r>
            <a:endParaRPr lang="en-US" sz="1300" dirty="0"/>
          </a:p>
        </p:txBody>
      </p:sp>
      <p:sp>
        <p:nvSpPr>
          <p:cNvPr id="29" name="Decision ASK A HUMAN"/>
          <p:cNvSpPr/>
          <p:nvPr/>
        </p:nvSpPr>
        <p:spPr>
          <a:xfrm>
            <a:off x="5394960" y="5257800"/>
            <a:ext cx="1417320" cy="457200"/>
          </a:xfrm>
          <a:prstGeom prst="roundRect">
            <a:avLst>
              <a:gd name="adj" fmla="val 50000"/>
            </a:avLst>
          </a:prstGeom>
          <a:solidFill>
            <a:schemeClr val="accent2"/>
          </a:solidFill>
          <a:ln/>
        </p:spPr>
      </p:sp>
      <p:sp>
        <p:nvSpPr>
          <p:cNvPr id="30" name="Decision ASK A HUMAN text"/>
          <p:cNvSpPr txBox="1"/>
          <p:nvPr/>
        </p:nvSpPr>
        <p:spPr>
          <a:xfrm>
            <a:off x="5394960" y="5257800"/>
            <a:ext cx="1417320" cy="457200"/>
          </a:xfrm>
          <a:prstGeom prst="rect">
            <a:avLst/>
          </a:prstGeom>
          <a:noFill/>
          <a:ln/>
        </p:spPr>
        <p:txBody>
          <a:bodyPr wrap="square" lIns="0" tIns="0" rIns="0" bIns="0" rtlCol="0" anchor="ctr"/>
          <a:lstStyle/>
          <a:p>
            <a:pPr algn="ctr" indent="0" marL="0">
              <a:buNone/>
            </a:pPr>
            <a:r>
              <a:rPr lang="en-US" sz="1300" b="1" dirty="0">
                <a:solidFill>
                  <a:schemeClr val="bg1"/>
                </a:solidFill>
              </a:rPr>
              <a:t>ASK A HUMAN</a:t>
            </a:r>
            <a:endParaRPr lang="en-US" sz="1300" dirty="0"/>
          </a:p>
        </p:txBody>
      </p:sp>
      <p:sp>
        <p:nvSpPr>
          <p:cNvPr id="31" name="Decision BLOCK"/>
          <p:cNvSpPr/>
          <p:nvPr/>
        </p:nvSpPr>
        <p:spPr>
          <a:xfrm>
            <a:off x="6903720" y="5257800"/>
            <a:ext cx="1417320" cy="457200"/>
          </a:xfrm>
          <a:prstGeom prst="roundRect">
            <a:avLst>
              <a:gd name="adj" fmla="val 50000"/>
            </a:avLst>
          </a:prstGeom>
          <a:solidFill>
            <a:schemeClr val="accent3"/>
          </a:solidFill>
          <a:ln/>
        </p:spPr>
      </p:sp>
      <p:sp>
        <p:nvSpPr>
          <p:cNvPr id="32" name="Decision BLOCK text"/>
          <p:cNvSpPr txBox="1"/>
          <p:nvPr/>
        </p:nvSpPr>
        <p:spPr>
          <a:xfrm>
            <a:off x="6903720" y="5257800"/>
            <a:ext cx="1417320" cy="457200"/>
          </a:xfrm>
          <a:prstGeom prst="rect">
            <a:avLst/>
          </a:prstGeom>
          <a:noFill/>
          <a:ln/>
        </p:spPr>
        <p:txBody>
          <a:bodyPr wrap="square" lIns="0" tIns="0" rIns="0" bIns="0" rtlCol="0" anchor="ctr"/>
          <a:lstStyle/>
          <a:p>
            <a:pPr algn="ctr" indent="0" marL="0">
              <a:buNone/>
            </a:pPr>
            <a:r>
              <a:rPr lang="en-US" sz="1300" b="1" dirty="0">
                <a:solidFill>
                  <a:schemeClr val="bg1"/>
                </a:solidFill>
              </a:rPr>
              <a:t>BLOCK</a:t>
            </a:r>
            <a:endParaRPr lang="en-US" sz="1300" dirty="0"/>
          </a:p>
        </p:txBody>
      </p:sp>
      <p:sp>
        <p:nvSpPr>
          <p:cNvPr id="33" name="How takeaway"/>
          <p:cNvSpPr txBox="1"/>
          <p:nvPr/>
        </p:nvSpPr>
        <p:spPr>
          <a:xfrm>
            <a:off x="548640" y="5897880"/>
            <a:ext cx="11064240" cy="365760"/>
          </a:xfrm>
          <a:prstGeom prst="rect">
            <a:avLst/>
          </a:prstGeom>
          <a:noFill/>
          <a:ln/>
        </p:spPr>
        <p:txBody>
          <a:bodyPr wrap="square" lIns="0" tIns="0" rIns="0" bIns="0" rtlCol="0" anchor="t"/>
          <a:lstStyle/>
          <a:p>
            <a:pPr algn="ctr" indent="0" marL="0">
              <a:buNone/>
            </a:pPr>
            <a:r>
              <a:rPr lang="en-US" sz="1500" i="1" dirty="0">
                <a:solidFill>
                  <a:schemeClr val="tx2"/>
                </a:solidFill>
              </a:rPr>
              <a:t>One rule set for all agents. Plus a coverage score that shows which agents are fully protected.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In practice: a $450 refund, handled safely</a:t>
            </a:r>
            <a:endParaRPr lang="en-US" sz="3200" dirty="0"/>
          </a:p>
        </p:txBody>
      </p:sp>
      <p:sp>
        <p:nvSpPr>
          <p:cNvPr id="3" name="Step 1 circle"/>
          <p:cNvSpPr/>
          <p:nvPr/>
        </p:nvSpPr>
        <p:spPr>
          <a:xfrm>
            <a:off x="1097280" y="1737360"/>
            <a:ext cx="960120" cy="960120"/>
          </a:xfrm>
          <a:prstGeom prst="ellipse">
            <a:avLst/>
          </a:prstGeom>
          <a:solidFill>
            <a:schemeClr val="accent1"/>
          </a:solidFill>
          <a:ln/>
        </p:spPr>
      </p:sp>
      <p:pic>
        <p:nvPicPr>
          <p:cNvPr id="4" name="Step 1 icon" descr="preencoded.png">    </p:cNvPr>
          <p:cNvPicPr>
            <a:picLocks noChangeAspect="1"/>
          </p:cNvPicPr>
          <p:nvPr/>
        </p:nvPicPr>
        <p:blipFill>
          <a:blip r:embed="rId1"/>
          <a:stretch>
            <a:fillRect/>
          </a:stretch>
        </p:blipFill>
        <p:spPr>
          <a:xfrm>
            <a:off x="1356512" y="1996592"/>
            <a:ext cx="441655" cy="441655"/>
          </a:xfrm>
          <a:prstGeom prst="rect">
            <a:avLst/>
          </a:prstGeom>
        </p:spPr>
      </p:pic>
      <p:sp>
        <p:nvSpPr>
          <p:cNvPr id="5" name="Step 1 number"/>
          <p:cNvSpPr txBox="1"/>
          <p:nvPr/>
        </p:nvSpPr>
        <p:spPr>
          <a:xfrm>
            <a:off x="548640" y="2880360"/>
            <a:ext cx="2057400" cy="411480"/>
          </a:xfrm>
          <a:prstGeom prst="rect">
            <a:avLst/>
          </a:prstGeom>
          <a:noFill/>
          <a:ln/>
        </p:spPr>
        <p:txBody>
          <a:bodyPr wrap="square" lIns="0" tIns="0" rIns="0" bIns="0" rtlCol="0" anchor="t"/>
          <a:lstStyle/>
          <a:p>
            <a:pPr algn="ctr" indent="0" marL="0">
              <a:buNone/>
            </a:pPr>
            <a:r>
              <a:rPr lang="en-US" sz="2200" b="1" dirty="0">
                <a:solidFill>
                  <a:schemeClr val="tx2"/>
                </a:solidFill>
              </a:rPr>
              <a:t>1</a:t>
            </a:r>
            <a:endParaRPr lang="en-US" sz="2200" dirty="0"/>
          </a:p>
        </p:txBody>
      </p:sp>
      <p:sp>
        <p:nvSpPr>
          <p:cNvPr id="6" name="Step 1 text"/>
          <p:cNvSpPr txBox="1"/>
          <p:nvPr/>
        </p:nvSpPr>
        <p:spPr>
          <a:xfrm>
            <a:off x="640080" y="3337560"/>
            <a:ext cx="1874520" cy="1097280"/>
          </a:xfrm>
          <a:prstGeom prst="rect">
            <a:avLst/>
          </a:prstGeom>
          <a:noFill/>
          <a:ln/>
        </p:spPr>
        <p:txBody>
          <a:bodyPr wrap="square" lIns="0" tIns="0" rIns="0" bIns="0" rtlCol="0" anchor="t"/>
          <a:lstStyle/>
          <a:p>
            <a:pPr algn="ctr" indent="0" marL="0">
              <a:buNone/>
            </a:pPr>
            <a:r>
              <a:rPr lang="en-US" sz="1500" dirty="0">
                <a:solidFill>
                  <a:schemeClr val="tx1"/>
                </a:solidFill>
              </a:rPr>
              <a:t>Customer asks the support agent for a $450 refund</a:t>
            </a:r>
            <a:endParaRPr lang="en-US" sz="1500" dirty="0"/>
          </a:p>
        </p:txBody>
      </p:sp>
      <p:sp>
        <p:nvSpPr>
          <p:cNvPr id="7" name="Step arrow 1"/>
          <p:cNvSpPr/>
          <p:nvPr/>
        </p:nvSpPr>
        <p:spPr>
          <a:xfrm>
            <a:off x="2240280" y="2217420"/>
            <a:ext cx="731520" cy="0"/>
          </a:xfrm>
          <a:prstGeom prst="line">
            <a:avLst/>
          </a:prstGeom>
          <a:noFill/>
          <a:ln w="25400">
            <a:solidFill>
              <a:srgbClr val="5B6B80"/>
            </a:solidFill>
            <a:prstDash val="solid"/>
            <a:tailEnd type="triangle"/>
          </a:ln>
        </p:spPr>
      </p:sp>
      <p:sp>
        <p:nvSpPr>
          <p:cNvPr id="8" name="Step 2 circle"/>
          <p:cNvSpPr/>
          <p:nvPr/>
        </p:nvSpPr>
        <p:spPr>
          <a:xfrm>
            <a:off x="3360420" y="1737360"/>
            <a:ext cx="960120" cy="960120"/>
          </a:xfrm>
          <a:prstGeom prst="ellipse">
            <a:avLst/>
          </a:prstGeom>
          <a:solidFill>
            <a:schemeClr val="accent1"/>
          </a:solidFill>
          <a:ln/>
        </p:spPr>
      </p:sp>
      <p:pic>
        <p:nvPicPr>
          <p:cNvPr id="9" name="Step 2 icon" descr="preencoded.png">    </p:cNvPr>
          <p:cNvPicPr>
            <a:picLocks noChangeAspect="1"/>
          </p:cNvPicPr>
          <p:nvPr/>
        </p:nvPicPr>
        <p:blipFill>
          <a:blip r:embed="rId2"/>
          <a:stretch>
            <a:fillRect/>
          </a:stretch>
        </p:blipFill>
        <p:spPr>
          <a:xfrm>
            <a:off x="3619652" y="1996592"/>
            <a:ext cx="441655" cy="441655"/>
          </a:xfrm>
          <a:prstGeom prst="rect">
            <a:avLst/>
          </a:prstGeom>
        </p:spPr>
      </p:pic>
      <p:sp>
        <p:nvSpPr>
          <p:cNvPr id="10" name="Step 2 number"/>
          <p:cNvSpPr txBox="1"/>
          <p:nvPr/>
        </p:nvSpPr>
        <p:spPr>
          <a:xfrm>
            <a:off x="2811780" y="2880360"/>
            <a:ext cx="2057400" cy="411480"/>
          </a:xfrm>
          <a:prstGeom prst="rect">
            <a:avLst/>
          </a:prstGeom>
          <a:noFill/>
          <a:ln/>
        </p:spPr>
        <p:txBody>
          <a:bodyPr wrap="square" lIns="0" tIns="0" rIns="0" bIns="0" rtlCol="0" anchor="t"/>
          <a:lstStyle/>
          <a:p>
            <a:pPr algn="ctr" indent="0" marL="0">
              <a:buNone/>
            </a:pPr>
            <a:r>
              <a:rPr lang="en-US" sz="2200" b="1" dirty="0">
                <a:solidFill>
                  <a:schemeClr val="tx2"/>
                </a:solidFill>
              </a:rPr>
              <a:t>2</a:t>
            </a:r>
            <a:endParaRPr lang="en-US" sz="2200" dirty="0"/>
          </a:p>
        </p:txBody>
      </p:sp>
      <p:sp>
        <p:nvSpPr>
          <p:cNvPr id="11" name="Step 2 text"/>
          <p:cNvSpPr txBox="1"/>
          <p:nvPr/>
        </p:nvSpPr>
        <p:spPr>
          <a:xfrm>
            <a:off x="2903220" y="3337560"/>
            <a:ext cx="1874520" cy="1097280"/>
          </a:xfrm>
          <a:prstGeom prst="rect">
            <a:avLst/>
          </a:prstGeom>
          <a:noFill/>
          <a:ln/>
        </p:spPr>
        <p:txBody>
          <a:bodyPr wrap="square" lIns="0" tIns="0" rIns="0" bIns="0" rtlCol="0" anchor="t"/>
          <a:lstStyle/>
          <a:p>
            <a:pPr algn="ctr" indent="0" marL="0">
              <a:buNone/>
            </a:pPr>
            <a:r>
              <a:rPr lang="en-US" sz="1500" dirty="0">
                <a:solidFill>
                  <a:schemeClr val="tx1"/>
                </a:solidFill>
              </a:rPr>
              <a:t>Agent calls Stripe through AgentGuard</a:t>
            </a:r>
            <a:endParaRPr lang="en-US" sz="1500" dirty="0"/>
          </a:p>
        </p:txBody>
      </p:sp>
      <p:sp>
        <p:nvSpPr>
          <p:cNvPr id="12" name="Step arrow 2"/>
          <p:cNvSpPr/>
          <p:nvPr/>
        </p:nvSpPr>
        <p:spPr>
          <a:xfrm>
            <a:off x="4503420" y="2217420"/>
            <a:ext cx="731520" cy="0"/>
          </a:xfrm>
          <a:prstGeom prst="line">
            <a:avLst/>
          </a:prstGeom>
          <a:noFill/>
          <a:ln w="25400">
            <a:solidFill>
              <a:srgbClr val="5B6B80"/>
            </a:solidFill>
            <a:prstDash val="solid"/>
            <a:tailEnd type="triangle"/>
          </a:ln>
        </p:spPr>
      </p:sp>
      <p:sp>
        <p:nvSpPr>
          <p:cNvPr id="13" name="Step 3 circle"/>
          <p:cNvSpPr/>
          <p:nvPr/>
        </p:nvSpPr>
        <p:spPr>
          <a:xfrm>
            <a:off x="5623560" y="1737360"/>
            <a:ext cx="960120" cy="960120"/>
          </a:xfrm>
          <a:prstGeom prst="ellipse">
            <a:avLst/>
          </a:prstGeom>
          <a:solidFill>
            <a:schemeClr val="accent2"/>
          </a:solidFill>
          <a:ln/>
        </p:spPr>
      </p:sp>
      <p:pic>
        <p:nvPicPr>
          <p:cNvPr id="14" name="Step 3 icon" descr="preencoded.png">    </p:cNvPr>
          <p:cNvPicPr>
            <a:picLocks noChangeAspect="1"/>
          </p:cNvPicPr>
          <p:nvPr/>
        </p:nvPicPr>
        <p:blipFill>
          <a:blip r:embed="rId3"/>
          <a:stretch>
            <a:fillRect/>
          </a:stretch>
        </p:blipFill>
        <p:spPr>
          <a:xfrm>
            <a:off x="5882792" y="1996592"/>
            <a:ext cx="441655" cy="441655"/>
          </a:xfrm>
          <a:prstGeom prst="rect">
            <a:avLst/>
          </a:prstGeom>
        </p:spPr>
      </p:pic>
      <p:sp>
        <p:nvSpPr>
          <p:cNvPr id="15" name="Step 3 number"/>
          <p:cNvSpPr txBox="1"/>
          <p:nvPr/>
        </p:nvSpPr>
        <p:spPr>
          <a:xfrm>
            <a:off x="5074920" y="2880360"/>
            <a:ext cx="2057400" cy="411480"/>
          </a:xfrm>
          <a:prstGeom prst="rect">
            <a:avLst/>
          </a:prstGeom>
          <a:noFill/>
          <a:ln/>
        </p:spPr>
        <p:txBody>
          <a:bodyPr wrap="square" lIns="0" tIns="0" rIns="0" bIns="0" rtlCol="0" anchor="t"/>
          <a:lstStyle/>
          <a:p>
            <a:pPr algn="ctr" indent="0" marL="0">
              <a:buNone/>
            </a:pPr>
            <a:r>
              <a:rPr lang="en-US" sz="2200" b="1" dirty="0">
                <a:solidFill>
                  <a:schemeClr val="tx2"/>
                </a:solidFill>
              </a:rPr>
              <a:t>3</a:t>
            </a:r>
            <a:endParaRPr lang="en-US" sz="2200" dirty="0"/>
          </a:p>
        </p:txBody>
      </p:sp>
      <p:sp>
        <p:nvSpPr>
          <p:cNvPr id="16" name="Step 3 text"/>
          <p:cNvSpPr txBox="1"/>
          <p:nvPr/>
        </p:nvSpPr>
        <p:spPr>
          <a:xfrm>
            <a:off x="5166360" y="3337560"/>
            <a:ext cx="1874520" cy="1097280"/>
          </a:xfrm>
          <a:prstGeom prst="rect">
            <a:avLst/>
          </a:prstGeom>
          <a:noFill/>
          <a:ln/>
        </p:spPr>
        <p:txBody>
          <a:bodyPr wrap="square" lIns="0" tIns="0" rIns="0" bIns="0" rtlCol="0" anchor="t"/>
          <a:lstStyle/>
          <a:p>
            <a:pPr algn="ctr" indent="0" marL="0">
              <a:buNone/>
            </a:pPr>
            <a:r>
              <a:rPr lang="en-US" sz="1500" dirty="0">
                <a:solidFill>
                  <a:schemeClr val="tx1"/>
                </a:solidFill>
              </a:rPr>
              <a:t>Rule: refunds above $100 need a manager</a:t>
            </a:r>
            <a:endParaRPr lang="en-US" sz="1500" dirty="0"/>
          </a:p>
        </p:txBody>
      </p:sp>
      <p:sp>
        <p:nvSpPr>
          <p:cNvPr id="17" name="Step arrow 3"/>
          <p:cNvSpPr/>
          <p:nvPr/>
        </p:nvSpPr>
        <p:spPr>
          <a:xfrm>
            <a:off x="6766560" y="2217420"/>
            <a:ext cx="731520" cy="0"/>
          </a:xfrm>
          <a:prstGeom prst="line">
            <a:avLst/>
          </a:prstGeom>
          <a:noFill/>
          <a:ln w="25400">
            <a:solidFill>
              <a:srgbClr val="5B6B80"/>
            </a:solidFill>
            <a:prstDash val="solid"/>
            <a:tailEnd type="triangle"/>
          </a:ln>
        </p:spPr>
      </p:sp>
      <p:sp>
        <p:nvSpPr>
          <p:cNvPr id="18" name="Step 4 circle"/>
          <p:cNvSpPr/>
          <p:nvPr/>
        </p:nvSpPr>
        <p:spPr>
          <a:xfrm>
            <a:off x="7886700" y="1737360"/>
            <a:ext cx="960120" cy="960120"/>
          </a:xfrm>
          <a:prstGeom prst="ellipse">
            <a:avLst/>
          </a:prstGeom>
          <a:solidFill>
            <a:schemeClr val="accent2"/>
          </a:solidFill>
          <a:ln/>
        </p:spPr>
      </p:sp>
      <p:pic>
        <p:nvPicPr>
          <p:cNvPr id="19" name="Step 4 icon" descr="preencoded.png">    </p:cNvPr>
          <p:cNvPicPr>
            <a:picLocks noChangeAspect="1"/>
          </p:cNvPicPr>
          <p:nvPr/>
        </p:nvPicPr>
        <p:blipFill>
          <a:blip r:embed="rId4"/>
          <a:stretch>
            <a:fillRect/>
          </a:stretch>
        </p:blipFill>
        <p:spPr>
          <a:xfrm>
            <a:off x="8145932" y="1996592"/>
            <a:ext cx="441655" cy="441655"/>
          </a:xfrm>
          <a:prstGeom prst="rect">
            <a:avLst/>
          </a:prstGeom>
        </p:spPr>
      </p:pic>
      <p:sp>
        <p:nvSpPr>
          <p:cNvPr id="20" name="Step 4 number"/>
          <p:cNvSpPr txBox="1"/>
          <p:nvPr/>
        </p:nvSpPr>
        <p:spPr>
          <a:xfrm>
            <a:off x="7338060" y="2880360"/>
            <a:ext cx="2057400" cy="411480"/>
          </a:xfrm>
          <a:prstGeom prst="rect">
            <a:avLst/>
          </a:prstGeom>
          <a:noFill/>
          <a:ln/>
        </p:spPr>
        <p:txBody>
          <a:bodyPr wrap="square" lIns="0" tIns="0" rIns="0" bIns="0" rtlCol="0" anchor="t"/>
          <a:lstStyle/>
          <a:p>
            <a:pPr algn="ctr" indent="0" marL="0">
              <a:buNone/>
            </a:pPr>
            <a:r>
              <a:rPr lang="en-US" sz="2200" b="1" dirty="0">
                <a:solidFill>
                  <a:schemeClr val="tx2"/>
                </a:solidFill>
              </a:rPr>
              <a:t>4</a:t>
            </a:r>
            <a:endParaRPr lang="en-US" sz="2200" dirty="0"/>
          </a:p>
        </p:txBody>
      </p:sp>
      <p:sp>
        <p:nvSpPr>
          <p:cNvPr id="21" name="Step 4 text"/>
          <p:cNvSpPr txBox="1"/>
          <p:nvPr/>
        </p:nvSpPr>
        <p:spPr>
          <a:xfrm>
            <a:off x="7429500" y="3337560"/>
            <a:ext cx="1874520" cy="1097280"/>
          </a:xfrm>
          <a:prstGeom prst="rect">
            <a:avLst/>
          </a:prstGeom>
          <a:noFill/>
          <a:ln/>
        </p:spPr>
        <p:txBody>
          <a:bodyPr wrap="square" lIns="0" tIns="0" rIns="0" bIns="0" rtlCol="0" anchor="t"/>
          <a:lstStyle/>
          <a:p>
            <a:pPr algn="ctr" indent="0" marL="0">
              <a:buNone/>
            </a:pPr>
            <a:r>
              <a:rPr lang="en-US" sz="1500" dirty="0">
                <a:solidFill>
                  <a:schemeClr val="tx1"/>
                </a:solidFill>
              </a:rPr>
              <a:t>Manager sees the facts and approves in Slack</a:t>
            </a:r>
            <a:endParaRPr lang="en-US" sz="1500" dirty="0"/>
          </a:p>
        </p:txBody>
      </p:sp>
      <p:sp>
        <p:nvSpPr>
          <p:cNvPr id="22" name="Step arrow 4"/>
          <p:cNvSpPr/>
          <p:nvPr/>
        </p:nvSpPr>
        <p:spPr>
          <a:xfrm>
            <a:off x="9029700" y="2217420"/>
            <a:ext cx="731520" cy="0"/>
          </a:xfrm>
          <a:prstGeom prst="line">
            <a:avLst/>
          </a:prstGeom>
          <a:noFill/>
          <a:ln w="25400">
            <a:solidFill>
              <a:srgbClr val="5B6B80"/>
            </a:solidFill>
            <a:prstDash val="solid"/>
            <a:tailEnd type="triangle"/>
          </a:ln>
        </p:spPr>
      </p:sp>
      <p:sp>
        <p:nvSpPr>
          <p:cNvPr id="23" name="Step 5 circle"/>
          <p:cNvSpPr/>
          <p:nvPr/>
        </p:nvSpPr>
        <p:spPr>
          <a:xfrm>
            <a:off x="10149840" y="1737360"/>
            <a:ext cx="960120" cy="960120"/>
          </a:xfrm>
          <a:prstGeom prst="ellipse">
            <a:avLst/>
          </a:prstGeom>
          <a:solidFill>
            <a:schemeClr val="accent1"/>
          </a:solidFill>
          <a:ln/>
        </p:spPr>
      </p:sp>
      <p:pic>
        <p:nvPicPr>
          <p:cNvPr id="24" name="Step 5 icon" descr="preencoded.png">    </p:cNvPr>
          <p:cNvPicPr>
            <a:picLocks noChangeAspect="1"/>
          </p:cNvPicPr>
          <p:nvPr/>
        </p:nvPicPr>
        <p:blipFill>
          <a:blip r:embed="rId5"/>
          <a:stretch>
            <a:fillRect/>
          </a:stretch>
        </p:blipFill>
        <p:spPr>
          <a:xfrm>
            <a:off x="10409072" y="1996592"/>
            <a:ext cx="441655" cy="441655"/>
          </a:xfrm>
          <a:prstGeom prst="rect">
            <a:avLst/>
          </a:prstGeom>
        </p:spPr>
      </p:pic>
      <p:sp>
        <p:nvSpPr>
          <p:cNvPr id="25" name="Step 5 number"/>
          <p:cNvSpPr txBox="1"/>
          <p:nvPr/>
        </p:nvSpPr>
        <p:spPr>
          <a:xfrm>
            <a:off x="9601200" y="2880360"/>
            <a:ext cx="2057400" cy="411480"/>
          </a:xfrm>
          <a:prstGeom prst="rect">
            <a:avLst/>
          </a:prstGeom>
          <a:noFill/>
          <a:ln/>
        </p:spPr>
        <p:txBody>
          <a:bodyPr wrap="square" lIns="0" tIns="0" rIns="0" bIns="0" rtlCol="0" anchor="t"/>
          <a:lstStyle/>
          <a:p>
            <a:pPr algn="ctr" indent="0" marL="0">
              <a:buNone/>
            </a:pPr>
            <a:r>
              <a:rPr lang="en-US" sz="2200" b="1" dirty="0">
                <a:solidFill>
                  <a:schemeClr val="tx2"/>
                </a:solidFill>
              </a:rPr>
              <a:t>5</a:t>
            </a:r>
            <a:endParaRPr lang="en-US" sz="2200" dirty="0"/>
          </a:p>
        </p:txBody>
      </p:sp>
      <p:sp>
        <p:nvSpPr>
          <p:cNvPr id="26" name="Step 5 text"/>
          <p:cNvSpPr txBox="1"/>
          <p:nvPr/>
        </p:nvSpPr>
        <p:spPr>
          <a:xfrm>
            <a:off x="9692640" y="3337560"/>
            <a:ext cx="1874520" cy="1097280"/>
          </a:xfrm>
          <a:prstGeom prst="rect">
            <a:avLst/>
          </a:prstGeom>
          <a:noFill/>
          <a:ln/>
        </p:spPr>
        <p:txBody>
          <a:bodyPr wrap="square" lIns="0" tIns="0" rIns="0" bIns="0" rtlCol="0" anchor="t"/>
          <a:lstStyle/>
          <a:p>
            <a:pPr algn="ctr" indent="0" marL="0">
              <a:buNone/>
            </a:pPr>
            <a:r>
              <a:rPr lang="en-US" sz="1500" dirty="0">
                <a:solidFill>
                  <a:schemeClr val="tx1"/>
                </a:solidFill>
              </a:rPr>
              <a:t>Refund runs exactly once and is logged</a:t>
            </a:r>
            <a:endParaRPr lang="en-US" sz="1500" dirty="0"/>
          </a:p>
        </p:txBody>
      </p:sp>
      <p:sp>
        <p:nvSpPr>
          <p:cNvPr id="27" name="Example takeaway card"/>
          <p:cNvSpPr/>
          <p:nvPr/>
        </p:nvSpPr>
        <p:spPr>
          <a:xfrm>
            <a:off x="548640" y="4754880"/>
            <a:ext cx="11064240" cy="1143000"/>
          </a:xfrm>
          <a:prstGeom prst="roundRect">
            <a:avLst>
              <a:gd name="adj" fmla="val 9600"/>
            </a:avLst>
          </a:prstGeom>
          <a:solidFill>
            <a:schemeClr val="accent6"/>
          </a:solidFill>
          <a:ln/>
        </p:spPr>
      </p:sp>
      <p:sp>
        <p:nvSpPr>
          <p:cNvPr id="28" name="Example takeaway"/>
          <p:cNvSpPr txBox="1"/>
          <p:nvPr/>
        </p:nvSpPr>
        <p:spPr>
          <a:xfrm>
            <a:off x="822960" y="4754880"/>
            <a:ext cx="10515600" cy="1143000"/>
          </a:xfrm>
          <a:prstGeom prst="rect">
            <a:avLst/>
          </a:prstGeom>
          <a:noFill/>
          <a:ln/>
        </p:spPr>
        <p:txBody>
          <a:bodyPr wrap="square" lIns="0" tIns="0" rIns="0" bIns="0" rtlCol="0" anchor="ctr"/>
          <a:lstStyle/>
          <a:p>
            <a:pPr indent="0" marL="0">
              <a:buNone/>
            </a:pPr>
            <a:r>
              <a:rPr lang="en-US" sz="1600" b="1" dirty="0">
                <a:solidFill>
                  <a:schemeClr val="tx2"/>
                </a:solidFill>
              </a:rPr>
              <a:t>No approval, no refund.</a:t>
            </a:r>
            <a:endParaRPr lang="en-US" sz="1600" dirty="0"/>
          </a:p>
          <a:p>
            <a:pPr indent="0" marL="0">
              <a:buNone/>
            </a:pPr>
            <a:r>
              <a:rPr lang="en-US" sz="1600" dirty="0">
                <a:solidFill>
                  <a:schemeClr val="tx1"/>
                </a:solidFill>
              </a:rPr>
              <a:t>Locked to the exact order and amount, protected against duplicates, and fully recorded for the owner and auditors.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Why now</a:t>
            </a:r>
            <a:endParaRPr lang="en-US" sz="3200" dirty="0"/>
          </a:p>
        </p:txBody>
      </p:sp>
      <p:sp>
        <p:nvSpPr>
          <p:cNvPr id="3" name="Why card 1"/>
          <p:cNvSpPr/>
          <p:nvPr/>
        </p:nvSpPr>
        <p:spPr>
          <a:xfrm>
            <a:off x="548640" y="1463040"/>
            <a:ext cx="5394960" cy="2103120"/>
          </a:xfrm>
          <a:prstGeom prst="roundRect">
            <a:avLst>
              <a:gd name="adj" fmla="val 5217"/>
            </a:avLst>
          </a:prstGeom>
          <a:solidFill>
            <a:schemeClr val="bg2"/>
          </a:solidFill>
          <a:ln/>
        </p:spPr>
      </p:sp>
      <p:sp>
        <p:nvSpPr>
          <p:cNvPr id="4" name="Why 1 circle"/>
          <p:cNvSpPr/>
          <p:nvPr/>
        </p:nvSpPr>
        <p:spPr>
          <a:xfrm>
            <a:off x="822960" y="1737360"/>
            <a:ext cx="731520" cy="731520"/>
          </a:xfrm>
          <a:prstGeom prst="ellipse">
            <a:avLst/>
          </a:prstGeom>
          <a:solidFill>
            <a:schemeClr val="accent1"/>
          </a:solidFill>
          <a:ln/>
        </p:spPr>
      </p:sp>
      <p:pic>
        <p:nvPicPr>
          <p:cNvPr id="5" name="Why 1 icon" descr="preencoded.png">    </p:cNvPr>
          <p:cNvPicPr>
            <a:picLocks noChangeAspect="1"/>
          </p:cNvPicPr>
          <p:nvPr/>
        </p:nvPicPr>
        <p:blipFill>
          <a:blip r:embed="rId1"/>
          <a:stretch>
            <a:fillRect/>
          </a:stretch>
        </p:blipFill>
        <p:spPr>
          <a:xfrm>
            <a:off x="1020470" y="1934870"/>
            <a:ext cx="336499" cy="336499"/>
          </a:xfrm>
          <a:prstGeom prst="rect">
            <a:avLst/>
          </a:prstGeom>
        </p:spPr>
      </p:pic>
      <p:sp>
        <p:nvSpPr>
          <p:cNvPr id="6" name="Why 1 title"/>
          <p:cNvSpPr txBox="1"/>
          <p:nvPr/>
        </p:nvSpPr>
        <p:spPr>
          <a:xfrm>
            <a:off x="1737360" y="1737360"/>
            <a:ext cx="3977640" cy="731520"/>
          </a:xfrm>
          <a:prstGeom prst="rect">
            <a:avLst/>
          </a:prstGeom>
          <a:noFill/>
          <a:ln/>
        </p:spPr>
        <p:txBody>
          <a:bodyPr wrap="square" lIns="0" tIns="0" rIns="0" bIns="0" rtlCol="0" anchor="ctr"/>
          <a:lstStyle/>
          <a:p>
            <a:pPr indent="0" marL="0">
              <a:buNone/>
            </a:pPr>
            <a:r>
              <a:rPr lang="en-US" sz="1900" b="1" dirty="0">
                <a:solidFill>
                  <a:schemeClr val="tx2"/>
                </a:solidFill>
              </a:rPr>
              <a:t>Agents are getting real permissions</a:t>
            </a:r>
            <a:endParaRPr lang="en-US" sz="1900" dirty="0"/>
          </a:p>
        </p:txBody>
      </p:sp>
      <p:sp>
        <p:nvSpPr>
          <p:cNvPr id="7" name="Why 1 text"/>
          <p:cNvSpPr txBox="1"/>
          <p:nvPr/>
        </p:nvSpPr>
        <p:spPr>
          <a:xfrm>
            <a:off x="822960" y="2560320"/>
            <a:ext cx="4846320" cy="868680"/>
          </a:xfrm>
          <a:prstGeom prst="rect">
            <a:avLst/>
          </a:prstGeom>
          <a:noFill/>
          <a:ln/>
        </p:spPr>
        <p:txBody>
          <a:bodyPr wrap="square" lIns="0" tIns="0" rIns="0" bIns="0" rtlCol="0" anchor="t"/>
          <a:lstStyle/>
          <a:p>
            <a:pPr indent="0" marL="0">
              <a:buNone/>
            </a:pPr>
            <a:r>
              <a:rPr lang="en-US" sz="1400" dirty="0">
                <a:solidFill>
                  <a:schemeClr val="tx1"/>
                </a:solidFill>
              </a:rPr>
              <a:t>Businesses are connecting agents to payments, customer data and email, and every new permission raises the need for control.</a:t>
            </a:r>
            <a:endParaRPr lang="en-US" sz="1400" dirty="0"/>
          </a:p>
        </p:txBody>
      </p:sp>
      <p:sp>
        <p:nvSpPr>
          <p:cNvPr id="8" name="Why card 2"/>
          <p:cNvSpPr/>
          <p:nvPr/>
        </p:nvSpPr>
        <p:spPr>
          <a:xfrm>
            <a:off x="6217920" y="1463040"/>
            <a:ext cx="5394960" cy="2103120"/>
          </a:xfrm>
          <a:prstGeom prst="roundRect">
            <a:avLst>
              <a:gd name="adj" fmla="val 5217"/>
            </a:avLst>
          </a:prstGeom>
          <a:solidFill>
            <a:schemeClr val="bg2"/>
          </a:solidFill>
          <a:ln/>
        </p:spPr>
      </p:sp>
      <p:sp>
        <p:nvSpPr>
          <p:cNvPr id="9" name="Why 2 circle"/>
          <p:cNvSpPr/>
          <p:nvPr/>
        </p:nvSpPr>
        <p:spPr>
          <a:xfrm>
            <a:off x="6492240" y="1737360"/>
            <a:ext cx="731520" cy="731520"/>
          </a:xfrm>
          <a:prstGeom prst="ellipse">
            <a:avLst/>
          </a:prstGeom>
          <a:solidFill>
            <a:schemeClr val="accent1"/>
          </a:solidFill>
          <a:ln/>
        </p:spPr>
      </p:sp>
      <p:pic>
        <p:nvPicPr>
          <p:cNvPr id="10" name="Why 2 icon" descr="preencoded.png">    </p:cNvPr>
          <p:cNvPicPr>
            <a:picLocks noChangeAspect="1"/>
          </p:cNvPicPr>
          <p:nvPr/>
        </p:nvPicPr>
        <p:blipFill>
          <a:blip r:embed="rId2"/>
          <a:stretch>
            <a:fillRect/>
          </a:stretch>
        </p:blipFill>
        <p:spPr>
          <a:xfrm>
            <a:off x="6689750" y="1934870"/>
            <a:ext cx="336499" cy="336499"/>
          </a:xfrm>
          <a:prstGeom prst="rect">
            <a:avLst/>
          </a:prstGeom>
        </p:spPr>
      </p:pic>
      <p:sp>
        <p:nvSpPr>
          <p:cNvPr id="11" name="Why 2 title"/>
          <p:cNvSpPr txBox="1"/>
          <p:nvPr/>
        </p:nvSpPr>
        <p:spPr>
          <a:xfrm>
            <a:off x="7406640" y="1737360"/>
            <a:ext cx="3977640" cy="731520"/>
          </a:xfrm>
          <a:prstGeom prst="rect">
            <a:avLst/>
          </a:prstGeom>
          <a:noFill/>
          <a:ln/>
        </p:spPr>
        <p:txBody>
          <a:bodyPr wrap="square" lIns="0" tIns="0" rIns="0" bIns="0" rtlCol="0" anchor="ctr"/>
          <a:lstStyle/>
          <a:p>
            <a:pPr indent="0" marL="0">
              <a:buNone/>
            </a:pPr>
            <a:r>
              <a:rPr lang="en-US" sz="1900" b="1" dirty="0">
                <a:solidFill>
                  <a:schemeClr val="tx2"/>
                </a:solidFill>
              </a:rPr>
              <a:t>Open standards make it practical</a:t>
            </a:r>
            <a:endParaRPr lang="en-US" sz="1900" dirty="0"/>
          </a:p>
        </p:txBody>
      </p:sp>
      <p:sp>
        <p:nvSpPr>
          <p:cNvPr id="12" name="Why 2 text"/>
          <p:cNvSpPr txBox="1"/>
          <p:nvPr/>
        </p:nvSpPr>
        <p:spPr>
          <a:xfrm>
            <a:off x="6492240" y="2560320"/>
            <a:ext cx="4846320" cy="868680"/>
          </a:xfrm>
          <a:prstGeom prst="rect">
            <a:avLst/>
          </a:prstGeom>
          <a:noFill/>
          <a:ln/>
        </p:spPr>
        <p:txBody>
          <a:bodyPr wrap="square" lIns="0" tIns="0" rIns="0" bIns="0" rtlCol="0" anchor="t"/>
          <a:lstStyle/>
          <a:p>
            <a:pPr indent="0" marL="0">
              <a:buNone/>
            </a:pPr>
            <a:r>
              <a:rPr lang="en-US" sz="1400" dirty="0">
                <a:solidFill>
                  <a:schemeClr val="tx1"/>
                </a:solidFill>
              </a:rPr>
              <a:t>MCP (for tools), OpenTelemetry (for traces) and common AI-API formats let one product work across platforms.</a:t>
            </a:r>
            <a:endParaRPr lang="en-US" sz="1400" dirty="0"/>
          </a:p>
        </p:txBody>
      </p:sp>
      <p:sp>
        <p:nvSpPr>
          <p:cNvPr id="13" name="Why card 3"/>
          <p:cNvSpPr/>
          <p:nvPr/>
        </p:nvSpPr>
        <p:spPr>
          <a:xfrm>
            <a:off x="548640" y="3840480"/>
            <a:ext cx="5394960" cy="2103120"/>
          </a:xfrm>
          <a:prstGeom prst="roundRect">
            <a:avLst>
              <a:gd name="adj" fmla="val 5217"/>
            </a:avLst>
          </a:prstGeom>
          <a:solidFill>
            <a:schemeClr val="bg2"/>
          </a:solidFill>
          <a:ln/>
        </p:spPr>
      </p:sp>
      <p:sp>
        <p:nvSpPr>
          <p:cNvPr id="14" name="Why 3 circle"/>
          <p:cNvSpPr/>
          <p:nvPr/>
        </p:nvSpPr>
        <p:spPr>
          <a:xfrm>
            <a:off x="822960" y="4114800"/>
            <a:ext cx="731520" cy="731520"/>
          </a:xfrm>
          <a:prstGeom prst="ellipse">
            <a:avLst/>
          </a:prstGeom>
          <a:solidFill>
            <a:schemeClr val="accent1"/>
          </a:solidFill>
          <a:ln/>
        </p:spPr>
      </p:sp>
      <p:pic>
        <p:nvPicPr>
          <p:cNvPr id="15" name="Why 3 icon" descr="preencoded.png">    </p:cNvPr>
          <p:cNvPicPr>
            <a:picLocks noChangeAspect="1"/>
          </p:cNvPicPr>
          <p:nvPr/>
        </p:nvPicPr>
        <p:blipFill>
          <a:blip r:embed="rId3"/>
          <a:stretch>
            <a:fillRect/>
          </a:stretch>
        </p:blipFill>
        <p:spPr>
          <a:xfrm>
            <a:off x="1020470" y="4312310"/>
            <a:ext cx="336499" cy="336499"/>
          </a:xfrm>
          <a:prstGeom prst="rect">
            <a:avLst/>
          </a:prstGeom>
        </p:spPr>
      </p:pic>
      <p:sp>
        <p:nvSpPr>
          <p:cNvPr id="16" name="Why 3 title"/>
          <p:cNvSpPr txBox="1"/>
          <p:nvPr/>
        </p:nvSpPr>
        <p:spPr>
          <a:xfrm>
            <a:off x="1737360" y="4114800"/>
            <a:ext cx="3977640" cy="731520"/>
          </a:xfrm>
          <a:prstGeom prst="rect">
            <a:avLst/>
          </a:prstGeom>
          <a:noFill/>
          <a:ln/>
        </p:spPr>
        <p:txBody>
          <a:bodyPr wrap="square" lIns="0" tIns="0" rIns="0" bIns="0" rtlCol="0" anchor="ctr"/>
          <a:lstStyle/>
          <a:p>
            <a:pPr indent="0" marL="0">
              <a:buNone/>
            </a:pPr>
            <a:r>
              <a:rPr lang="en-US" sz="1900" b="1" dirty="0">
                <a:solidFill>
                  <a:schemeClr val="tx2"/>
                </a:solidFill>
              </a:rPr>
              <a:t>The market is validated</a:t>
            </a:r>
            <a:endParaRPr lang="en-US" sz="1900" dirty="0"/>
          </a:p>
        </p:txBody>
      </p:sp>
      <p:sp>
        <p:nvSpPr>
          <p:cNvPr id="17" name="Why 3 text"/>
          <p:cNvSpPr txBox="1"/>
          <p:nvPr/>
        </p:nvSpPr>
        <p:spPr>
          <a:xfrm>
            <a:off x="822960" y="4937760"/>
            <a:ext cx="4846320" cy="868680"/>
          </a:xfrm>
          <a:prstGeom prst="rect">
            <a:avLst/>
          </a:prstGeom>
          <a:noFill/>
          <a:ln/>
        </p:spPr>
        <p:txBody>
          <a:bodyPr wrap="square" lIns="0" tIns="0" rIns="0" bIns="0" rtlCol="0" anchor="t"/>
          <a:lstStyle/>
          <a:p>
            <a:pPr indent="0" marL="0">
              <a:buNone/>
            </a:pPr>
            <a:r>
              <a:rPr lang="en-US" sz="1400" dirty="0">
                <a:solidFill>
                  <a:schemeClr val="tx1"/>
                </a:solidFill>
              </a:rPr>
              <a:t>In 2025, Palo Alto Networks, Check Point, SentinelOne and Snyk announced acquisitions of AI-security startups.</a:t>
            </a:r>
            <a:endParaRPr lang="en-US" sz="1400" dirty="0"/>
          </a:p>
        </p:txBody>
      </p:sp>
      <p:sp>
        <p:nvSpPr>
          <p:cNvPr id="18" name="Why card 4"/>
          <p:cNvSpPr/>
          <p:nvPr/>
        </p:nvSpPr>
        <p:spPr>
          <a:xfrm>
            <a:off x="6217920" y="3840480"/>
            <a:ext cx="5394960" cy="2103120"/>
          </a:xfrm>
          <a:prstGeom prst="roundRect">
            <a:avLst>
              <a:gd name="adj" fmla="val 5217"/>
            </a:avLst>
          </a:prstGeom>
          <a:solidFill>
            <a:schemeClr val="bg2"/>
          </a:solidFill>
          <a:ln/>
        </p:spPr>
      </p:sp>
      <p:sp>
        <p:nvSpPr>
          <p:cNvPr id="19" name="Why 4 circle"/>
          <p:cNvSpPr/>
          <p:nvPr/>
        </p:nvSpPr>
        <p:spPr>
          <a:xfrm>
            <a:off x="6492240" y="4114800"/>
            <a:ext cx="731520" cy="731520"/>
          </a:xfrm>
          <a:prstGeom prst="ellipse">
            <a:avLst/>
          </a:prstGeom>
          <a:solidFill>
            <a:schemeClr val="accent1"/>
          </a:solidFill>
          <a:ln/>
        </p:spPr>
      </p:sp>
      <p:pic>
        <p:nvPicPr>
          <p:cNvPr id="20" name="Why 4 icon" descr="preencoded.png">    </p:cNvPr>
          <p:cNvPicPr>
            <a:picLocks noChangeAspect="1"/>
          </p:cNvPicPr>
          <p:nvPr/>
        </p:nvPicPr>
        <p:blipFill>
          <a:blip r:embed="rId4"/>
          <a:stretch>
            <a:fillRect/>
          </a:stretch>
        </p:blipFill>
        <p:spPr>
          <a:xfrm>
            <a:off x="6689750" y="4312310"/>
            <a:ext cx="336499" cy="336499"/>
          </a:xfrm>
          <a:prstGeom prst="rect">
            <a:avLst/>
          </a:prstGeom>
        </p:spPr>
      </p:pic>
      <p:sp>
        <p:nvSpPr>
          <p:cNvPr id="21" name="Why 4 title"/>
          <p:cNvSpPr txBox="1"/>
          <p:nvPr/>
        </p:nvSpPr>
        <p:spPr>
          <a:xfrm>
            <a:off x="7406640" y="4114800"/>
            <a:ext cx="3977640" cy="731520"/>
          </a:xfrm>
          <a:prstGeom prst="rect">
            <a:avLst/>
          </a:prstGeom>
          <a:noFill/>
          <a:ln/>
        </p:spPr>
        <p:txBody>
          <a:bodyPr wrap="square" lIns="0" tIns="0" rIns="0" bIns="0" rtlCol="0" anchor="ctr"/>
          <a:lstStyle/>
          <a:p>
            <a:pPr indent="0" marL="0">
              <a:buNone/>
            </a:pPr>
            <a:r>
              <a:rPr lang="en-US" sz="1900" b="1" dirty="0">
                <a:solidFill>
                  <a:schemeClr val="tx2"/>
                </a:solidFill>
              </a:rPr>
              <a:t>Clients and regulators expect control</a:t>
            </a:r>
            <a:endParaRPr lang="en-US" sz="1900" dirty="0"/>
          </a:p>
        </p:txBody>
      </p:sp>
      <p:sp>
        <p:nvSpPr>
          <p:cNvPr id="22" name="Why 4 text"/>
          <p:cNvSpPr txBox="1"/>
          <p:nvPr/>
        </p:nvSpPr>
        <p:spPr>
          <a:xfrm>
            <a:off x="6492240" y="4937760"/>
            <a:ext cx="4846320" cy="868680"/>
          </a:xfrm>
          <a:prstGeom prst="rect">
            <a:avLst/>
          </a:prstGeom>
          <a:noFill/>
          <a:ln/>
        </p:spPr>
        <p:txBody>
          <a:bodyPr wrap="square" lIns="0" tIns="0" rIns="0" bIns="0" rtlCol="0" anchor="t"/>
          <a:lstStyle/>
          <a:p>
            <a:pPr indent="0" marL="0">
              <a:buNone/>
            </a:pPr>
            <a:r>
              <a:rPr lang="en-US" sz="1400" dirty="0">
                <a:solidFill>
                  <a:schemeClr val="tx1"/>
                </a:solidFill>
              </a:rPr>
              <a:t>Businesses are asked to show how their AI is controlled. Laws like the EU AI Act raise the bar for oversight.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Market opportunity</a:t>
            </a:r>
            <a:endParaRPr lang="en-US" sz="3200" dirty="0"/>
          </a:p>
        </p:txBody>
      </p:sp>
      <p:sp>
        <p:nvSpPr>
          <p:cNvPr id="3" name="Market 1 box"/>
          <p:cNvSpPr/>
          <p:nvPr/>
        </p:nvSpPr>
        <p:spPr>
          <a:xfrm>
            <a:off x="548640" y="1463040"/>
            <a:ext cx="5486400" cy="1234440"/>
          </a:xfrm>
          <a:prstGeom prst="roundRect">
            <a:avLst>
              <a:gd name="adj" fmla="val 8889"/>
            </a:avLst>
          </a:prstGeom>
          <a:solidFill>
            <a:schemeClr val="accent5"/>
          </a:solidFill>
          <a:ln/>
        </p:spPr>
      </p:sp>
      <p:sp>
        <p:nvSpPr>
          <p:cNvPr id="4" name="Market 1 label"/>
          <p:cNvSpPr txBox="1"/>
          <p:nvPr/>
        </p:nvSpPr>
        <p:spPr>
          <a:xfrm>
            <a:off x="822960" y="1600200"/>
            <a:ext cx="4937760" cy="365760"/>
          </a:xfrm>
          <a:prstGeom prst="rect">
            <a:avLst/>
          </a:prstGeom>
          <a:noFill/>
          <a:ln/>
        </p:spPr>
        <p:txBody>
          <a:bodyPr wrap="square" lIns="0" tIns="0" rIns="0" bIns="0" rtlCol="0" anchor="t"/>
          <a:lstStyle/>
          <a:p>
            <a:pPr indent="0" marL="0">
              <a:buNone/>
            </a:pPr>
            <a:r>
              <a:rPr lang="en-US" sz="1600" b="1" dirty="0">
                <a:solidFill>
                  <a:schemeClr val="bg1"/>
                </a:solidFill>
              </a:rPr>
              <a:t>Total market (TAM)</a:t>
            </a:r>
            <a:endParaRPr lang="en-US" sz="1600" dirty="0"/>
          </a:p>
        </p:txBody>
      </p:sp>
      <p:sp>
        <p:nvSpPr>
          <p:cNvPr id="5" name="Market 1 value"/>
          <p:cNvSpPr/>
          <p:nvPr/>
        </p:nvSpPr>
        <p:spPr>
          <a:xfrm>
            <a:off x="822960" y="2029968"/>
            <a:ext cx="4937760" cy="502920"/>
          </a:xfrm>
          <a:prstGeom prst="roundRect">
            <a:avLst>
              <a:gd name="adj" fmla="val 14545"/>
            </a:avLst>
          </a:prstGeom>
          <a:solidFill>
            <a:srgbClr val="FFF3DD"/>
          </a:solidFill>
          <a:ln w="15875">
            <a:solidFill>
              <a:srgbClr val="E8930C"/>
            </a:solidFill>
            <a:prstDash val="dash"/>
          </a:ln>
        </p:spPr>
      </p:sp>
      <p:sp>
        <p:nvSpPr>
          <p:cNvPr id="6" name="Market 1 value text"/>
          <p:cNvSpPr txBox="1"/>
          <p:nvPr/>
        </p:nvSpPr>
        <p:spPr>
          <a:xfrm>
            <a:off x="960120" y="2029968"/>
            <a:ext cx="4663440" cy="502920"/>
          </a:xfrm>
          <a:prstGeom prst="rect">
            <a:avLst/>
          </a:prstGeom>
          <a:noFill/>
          <a:ln/>
        </p:spPr>
        <p:txBody>
          <a:bodyPr wrap="square" lIns="0" tIns="0" rIns="0" bIns="0" rtlCol="0" anchor="ctr"/>
          <a:lstStyle/>
          <a:p>
            <a:pPr algn="ctr" indent="0" marL="0">
              <a:buNone/>
            </a:pPr>
            <a:r>
              <a:rPr lang="en-US" sz="1400" b="1" dirty="0">
                <a:solidFill>
                  <a:schemeClr val="accent2"/>
                </a:solidFill>
              </a:rPr>
              <a:t>[To add: $ size + source]</a:t>
            </a:r>
            <a:endParaRPr lang="en-US" sz="1400" dirty="0"/>
          </a:p>
        </p:txBody>
      </p:sp>
      <p:sp>
        <p:nvSpPr>
          <p:cNvPr id="7" name="Market 2 box"/>
          <p:cNvSpPr/>
          <p:nvPr/>
        </p:nvSpPr>
        <p:spPr>
          <a:xfrm>
            <a:off x="1051560" y="2926080"/>
            <a:ext cx="4480560" cy="1234440"/>
          </a:xfrm>
          <a:prstGeom prst="roundRect">
            <a:avLst>
              <a:gd name="adj" fmla="val 8889"/>
            </a:avLst>
          </a:prstGeom>
          <a:solidFill>
            <a:schemeClr val="tx2"/>
          </a:solidFill>
          <a:ln/>
        </p:spPr>
      </p:sp>
      <p:sp>
        <p:nvSpPr>
          <p:cNvPr id="8" name="Market 2 label"/>
          <p:cNvSpPr txBox="1"/>
          <p:nvPr/>
        </p:nvSpPr>
        <p:spPr>
          <a:xfrm>
            <a:off x="1325880" y="3063240"/>
            <a:ext cx="3931920" cy="365760"/>
          </a:xfrm>
          <a:prstGeom prst="rect">
            <a:avLst/>
          </a:prstGeom>
          <a:noFill/>
          <a:ln/>
        </p:spPr>
        <p:txBody>
          <a:bodyPr wrap="square" lIns="0" tIns="0" rIns="0" bIns="0" rtlCol="0" anchor="t"/>
          <a:lstStyle/>
          <a:p>
            <a:pPr indent="0" marL="0">
              <a:buNone/>
            </a:pPr>
            <a:r>
              <a:rPr lang="en-US" sz="1600" b="1" dirty="0">
                <a:solidFill>
                  <a:schemeClr val="bg1"/>
                </a:solidFill>
              </a:rPr>
              <a:t>Serviceable market (SAM)</a:t>
            </a:r>
            <a:endParaRPr lang="en-US" sz="1600" dirty="0"/>
          </a:p>
        </p:txBody>
      </p:sp>
      <p:sp>
        <p:nvSpPr>
          <p:cNvPr id="9" name="Market 2 value"/>
          <p:cNvSpPr/>
          <p:nvPr/>
        </p:nvSpPr>
        <p:spPr>
          <a:xfrm>
            <a:off x="1325880" y="3493008"/>
            <a:ext cx="3931920" cy="502920"/>
          </a:xfrm>
          <a:prstGeom prst="roundRect">
            <a:avLst>
              <a:gd name="adj" fmla="val 14545"/>
            </a:avLst>
          </a:prstGeom>
          <a:solidFill>
            <a:srgbClr val="FFF3DD"/>
          </a:solidFill>
          <a:ln w="15875">
            <a:solidFill>
              <a:srgbClr val="E8930C"/>
            </a:solidFill>
            <a:prstDash val="dash"/>
          </a:ln>
        </p:spPr>
      </p:sp>
      <p:sp>
        <p:nvSpPr>
          <p:cNvPr id="10" name="Market 2 value text"/>
          <p:cNvSpPr txBox="1"/>
          <p:nvPr/>
        </p:nvSpPr>
        <p:spPr>
          <a:xfrm>
            <a:off x="1463040" y="3493008"/>
            <a:ext cx="3657600" cy="502920"/>
          </a:xfrm>
          <a:prstGeom prst="rect">
            <a:avLst/>
          </a:prstGeom>
          <a:noFill/>
          <a:ln/>
        </p:spPr>
        <p:txBody>
          <a:bodyPr wrap="square" lIns="0" tIns="0" rIns="0" bIns="0" rtlCol="0" anchor="ctr"/>
          <a:lstStyle/>
          <a:p>
            <a:pPr algn="ctr" indent="0" marL="0">
              <a:buNone/>
            </a:pPr>
            <a:r>
              <a:rPr lang="en-US" sz="1400" b="1" dirty="0">
                <a:solidFill>
                  <a:schemeClr val="accent2"/>
                </a:solidFill>
              </a:rPr>
              <a:t>[To add: $ size + source]</a:t>
            </a:r>
            <a:endParaRPr lang="en-US" sz="1400" dirty="0"/>
          </a:p>
        </p:txBody>
      </p:sp>
      <p:sp>
        <p:nvSpPr>
          <p:cNvPr id="11" name="Market 3 box"/>
          <p:cNvSpPr/>
          <p:nvPr/>
        </p:nvSpPr>
        <p:spPr>
          <a:xfrm>
            <a:off x="1554480" y="4389120"/>
            <a:ext cx="3474720" cy="1234440"/>
          </a:xfrm>
          <a:prstGeom prst="roundRect">
            <a:avLst>
              <a:gd name="adj" fmla="val 8889"/>
            </a:avLst>
          </a:prstGeom>
          <a:solidFill>
            <a:schemeClr val="accent1"/>
          </a:solidFill>
          <a:ln/>
        </p:spPr>
      </p:sp>
      <p:sp>
        <p:nvSpPr>
          <p:cNvPr id="12" name="Market 3 label"/>
          <p:cNvSpPr txBox="1"/>
          <p:nvPr/>
        </p:nvSpPr>
        <p:spPr>
          <a:xfrm>
            <a:off x="1828800" y="4526280"/>
            <a:ext cx="2926080" cy="365760"/>
          </a:xfrm>
          <a:prstGeom prst="rect">
            <a:avLst/>
          </a:prstGeom>
          <a:noFill/>
          <a:ln/>
        </p:spPr>
        <p:txBody>
          <a:bodyPr wrap="square" lIns="0" tIns="0" rIns="0" bIns="0" rtlCol="0" anchor="t"/>
          <a:lstStyle/>
          <a:p>
            <a:pPr indent="0" marL="0">
              <a:buNone/>
            </a:pPr>
            <a:r>
              <a:rPr lang="en-US" sz="1600" b="1" dirty="0">
                <a:solidFill>
                  <a:schemeClr val="bg1"/>
                </a:solidFill>
              </a:rPr>
              <a:t>First target (SOM)</a:t>
            </a:r>
            <a:endParaRPr lang="en-US" sz="1600" dirty="0"/>
          </a:p>
        </p:txBody>
      </p:sp>
      <p:sp>
        <p:nvSpPr>
          <p:cNvPr id="13" name="Market 3 value"/>
          <p:cNvSpPr/>
          <p:nvPr/>
        </p:nvSpPr>
        <p:spPr>
          <a:xfrm>
            <a:off x="1828800" y="4956048"/>
            <a:ext cx="2926080" cy="502920"/>
          </a:xfrm>
          <a:prstGeom prst="roundRect">
            <a:avLst>
              <a:gd name="adj" fmla="val 14545"/>
            </a:avLst>
          </a:prstGeom>
          <a:solidFill>
            <a:srgbClr val="FFF3DD"/>
          </a:solidFill>
          <a:ln w="15875">
            <a:solidFill>
              <a:srgbClr val="E8930C"/>
            </a:solidFill>
            <a:prstDash val="dash"/>
          </a:ln>
        </p:spPr>
      </p:sp>
      <p:sp>
        <p:nvSpPr>
          <p:cNvPr id="14" name="Market 3 value text"/>
          <p:cNvSpPr txBox="1"/>
          <p:nvPr/>
        </p:nvSpPr>
        <p:spPr>
          <a:xfrm>
            <a:off x="1965960" y="4956048"/>
            <a:ext cx="2651760" cy="502920"/>
          </a:xfrm>
          <a:prstGeom prst="rect">
            <a:avLst/>
          </a:prstGeom>
          <a:noFill/>
          <a:ln/>
        </p:spPr>
        <p:txBody>
          <a:bodyPr wrap="square" lIns="0" tIns="0" rIns="0" bIns="0" rtlCol="0" anchor="ctr"/>
          <a:lstStyle/>
          <a:p>
            <a:pPr algn="ctr" indent="0" marL="0">
              <a:buNone/>
            </a:pPr>
            <a:r>
              <a:rPr lang="en-US" sz="1400" b="1" dirty="0">
                <a:solidFill>
                  <a:schemeClr val="accent2"/>
                </a:solidFill>
              </a:rPr>
              <a:t>[To add: $ size + source]</a:t>
            </a:r>
            <a:endParaRPr lang="en-US" sz="1400" dirty="0"/>
          </a:p>
        </p:txBody>
      </p:sp>
      <p:sp>
        <p:nvSpPr>
          <p:cNvPr id="15" name="First buyers card"/>
          <p:cNvSpPr/>
          <p:nvPr/>
        </p:nvSpPr>
        <p:spPr>
          <a:xfrm>
            <a:off x="6675120" y="1463040"/>
            <a:ext cx="4937760" cy="4160520"/>
          </a:xfrm>
          <a:prstGeom prst="roundRect">
            <a:avLst>
              <a:gd name="adj" fmla="val 2637"/>
            </a:avLst>
          </a:prstGeom>
          <a:solidFill>
            <a:schemeClr val="bg2"/>
          </a:solidFill>
          <a:ln/>
        </p:spPr>
      </p:sp>
      <p:sp>
        <p:nvSpPr>
          <p:cNvPr id="16" name="First buyers title"/>
          <p:cNvSpPr txBox="1"/>
          <p:nvPr/>
        </p:nvSpPr>
        <p:spPr>
          <a:xfrm>
            <a:off x="6949440" y="1691640"/>
            <a:ext cx="4389120" cy="411480"/>
          </a:xfrm>
          <a:prstGeom prst="rect">
            <a:avLst/>
          </a:prstGeom>
          <a:noFill/>
          <a:ln/>
        </p:spPr>
        <p:txBody>
          <a:bodyPr wrap="square" lIns="0" tIns="0" rIns="0" bIns="0" rtlCol="0" anchor="t"/>
          <a:lstStyle/>
          <a:p>
            <a:pPr indent="0" marL="0">
              <a:buNone/>
            </a:pPr>
            <a:r>
              <a:rPr lang="en-US" sz="2000" b="1" dirty="0">
                <a:solidFill>
                  <a:schemeClr val="tx2"/>
                </a:solidFill>
              </a:rPr>
              <a:t>Who buys first</a:t>
            </a:r>
            <a:endParaRPr lang="en-US" sz="2000" dirty="0"/>
          </a:p>
        </p:txBody>
      </p:sp>
      <p:sp>
        <p:nvSpPr>
          <p:cNvPr id="17" name="Buyer 1 circle"/>
          <p:cNvSpPr/>
          <p:nvPr/>
        </p:nvSpPr>
        <p:spPr>
          <a:xfrm>
            <a:off x="6949440" y="2286000"/>
            <a:ext cx="640080" cy="640080"/>
          </a:xfrm>
          <a:prstGeom prst="ellipse">
            <a:avLst/>
          </a:prstGeom>
          <a:solidFill>
            <a:schemeClr val="accent1"/>
          </a:solidFill>
          <a:ln/>
        </p:spPr>
      </p:sp>
      <p:pic>
        <p:nvPicPr>
          <p:cNvPr id="18" name="Buyer 1 icon" descr="preencoded.png">    </p:cNvPr>
          <p:cNvPicPr>
            <a:picLocks noChangeAspect="1"/>
          </p:cNvPicPr>
          <p:nvPr/>
        </p:nvPicPr>
        <p:blipFill>
          <a:blip r:embed="rId1"/>
          <a:stretch>
            <a:fillRect/>
          </a:stretch>
        </p:blipFill>
        <p:spPr>
          <a:xfrm>
            <a:off x="7122262" y="2458822"/>
            <a:ext cx="294437" cy="294437"/>
          </a:xfrm>
          <a:prstGeom prst="rect">
            <a:avLst/>
          </a:prstGeom>
        </p:spPr>
      </p:pic>
      <p:sp>
        <p:nvSpPr>
          <p:cNvPr id="19" name="Buyer 1 text"/>
          <p:cNvSpPr txBox="1"/>
          <p:nvPr/>
        </p:nvSpPr>
        <p:spPr>
          <a:xfrm>
            <a:off x="7772400" y="2212848"/>
            <a:ext cx="3611880" cy="914400"/>
          </a:xfrm>
          <a:prstGeom prst="rect">
            <a:avLst/>
          </a:prstGeom>
          <a:noFill/>
          <a:ln/>
        </p:spPr>
        <p:txBody>
          <a:bodyPr wrap="square" lIns="0" tIns="0" rIns="0" bIns="0" rtlCol="0" anchor="t"/>
          <a:lstStyle/>
          <a:p>
            <a:pPr indent="0" marL="0">
              <a:buNone/>
            </a:pPr>
            <a:r>
              <a:rPr lang="en-US" sz="1400" b="1" dirty="0">
                <a:solidFill>
                  <a:schemeClr val="tx2"/>
                </a:solidFill>
              </a:rPr>
              <a:t>Automation agencies</a:t>
            </a:r>
            <a:endParaRPr lang="en-US" sz="1400" dirty="0"/>
          </a:p>
          <a:p>
            <a:pPr indent="0" marL="0">
              <a:buNone/>
            </a:pPr>
            <a:r>
              <a:rPr lang="en-US" sz="1400" dirty="0">
                <a:solidFill>
                  <a:schemeClr val="tx1"/>
                </a:solidFill>
              </a:rPr>
              <a:t>Build agents for many clients and must prove they’re safe</a:t>
            </a:r>
            <a:endParaRPr lang="en-US" sz="1400" dirty="0"/>
          </a:p>
        </p:txBody>
      </p:sp>
      <p:sp>
        <p:nvSpPr>
          <p:cNvPr id="20" name="Buyer 2 circle"/>
          <p:cNvSpPr/>
          <p:nvPr/>
        </p:nvSpPr>
        <p:spPr>
          <a:xfrm>
            <a:off x="6949440" y="3364992"/>
            <a:ext cx="640080" cy="640080"/>
          </a:xfrm>
          <a:prstGeom prst="ellipse">
            <a:avLst/>
          </a:prstGeom>
          <a:solidFill>
            <a:schemeClr val="accent1"/>
          </a:solidFill>
          <a:ln/>
        </p:spPr>
      </p:sp>
      <p:pic>
        <p:nvPicPr>
          <p:cNvPr id="21" name="Buyer 2 icon" descr="preencoded.png">    </p:cNvPr>
          <p:cNvPicPr>
            <a:picLocks noChangeAspect="1"/>
          </p:cNvPicPr>
          <p:nvPr/>
        </p:nvPicPr>
        <p:blipFill>
          <a:blip r:embed="rId2"/>
          <a:stretch>
            <a:fillRect/>
          </a:stretch>
        </p:blipFill>
        <p:spPr>
          <a:xfrm>
            <a:off x="7122262" y="3537814"/>
            <a:ext cx="294437" cy="294437"/>
          </a:xfrm>
          <a:prstGeom prst="rect">
            <a:avLst/>
          </a:prstGeom>
        </p:spPr>
      </p:pic>
      <p:sp>
        <p:nvSpPr>
          <p:cNvPr id="22" name="Buyer 2 text"/>
          <p:cNvSpPr txBox="1"/>
          <p:nvPr/>
        </p:nvSpPr>
        <p:spPr>
          <a:xfrm>
            <a:off x="7772400" y="3291840"/>
            <a:ext cx="3611880" cy="914400"/>
          </a:xfrm>
          <a:prstGeom prst="rect">
            <a:avLst/>
          </a:prstGeom>
          <a:noFill/>
          <a:ln/>
        </p:spPr>
        <p:txBody>
          <a:bodyPr wrap="square" lIns="0" tIns="0" rIns="0" bIns="0" rtlCol="0" anchor="t"/>
          <a:lstStyle/>
          <a:p>
            <a:pPr indent="0" marL="0">
              <a:buNone/>
            </a:pPr>
            <a:r>
              <a:rPr lang="en-US" sz="1400" b="1" dirty="0">
                <a:solidFill>
                  <a:schemeClr val="tx2"/>
                </a:solidFill>
              </a:rPr>
              <a:t>Growing businesses</a:t>
            </a:r>
            <a:endParaRPr lang="en-US" sz="1400" dirty="0"/>
          </a:p>
          <a:p>
            <a:pPr indent="0" marL="0">
              <a:buNone/>
            </a:pPr>
            <a:r>
              <a:rPr lang="en-US" sz="1400" dirty="0">
                <a:solidFill>
                  <a:schemeClr val="tx1"/>
                </a:solidFill>
              </a:rPr>
              <a:t>Whose own clients ask how their AI is controlled</a:t>
            </a:r>
            <a:endParaRPr lang="en-US" sz="1400" dirty="0"/>
          </a:p>
        </p:txBody>
      </p:sp>
      <p:sp>
        <p:nvSpPr>
          <p:cNvPr id="23" name="Buyer 3 circle"/>
          <p:cNvSpPr/>
          <p:nvPr/>
        </p:nvSpPr>
        <p:spPr>
          <a:xfrm>
            <a:off x="6949440" y="4443984"/>
            <a:ext cx="640080" cy="640080"/>
          </a:xfrm>
          <a:prstGeom prst="ellipse">
            <a:avLst/>
          </a:prstGeom>
          <a:solidFill>
            <a:schemeClr val="accent1"/>
          </a:solidFill>
          <a:ln/>
        </p:spPr>
      </p:sp>
      <p:pic>
        <p:nvPicPr>
          <p:cNvPr id="24" name="Buyer 3 icon" descr="preencoded.png">    </p:cNvPr>
          <p:cNvPicPr>
            <a:picLocks noChangeAspect="1"/>
          </p:cNvPicPr>
          <p:nvPr/>
        </p:nvPicPr>
        <p:blipFill>
          <a:blip r:embed="rId3"/>
          <a:stretch>
            <a:fillRect/>
          </a:stretch>
        </p:blipFill>
        <p:spPr>
          <a:xfrm>
            <a:off x="7122262" y="4616806"/>
            <a:ext cx="294437" cy="294437"/>
          </a:xfrm>
          <a:prstGeom prst="rect">
            <a:avLst/>
          </a:prstGeom>
        </p:spPr>
      </p:pic>
      <p:sp>
        <p:nvSpPr>
          <p:cNvPr id="25" name="Buyer 3 text"/>
          <p:cNvSpPr txBox="1"/>
          <p:nvPr/>
        </p:nvSpPr>
        <p:spPr>
          <a:xfrm>
            <a:off x="7772400" y="4370832"/>
            <a:ext cx="3611880" cy="914400"/>
          </a:xfrm>
          <a:prstGeom prst="rect">
            <a:avLst/>
          </a:prstGeom>
          <a:noFill/>
          <a:ln/>
        </p:spPr>
        <p:txBody>
          <a:bodyPr wrap="square" lIns="0" tIns="0" rIns="0" bIns="0" rtlCol="0" anchor="t"/>
          <a:lstStyle/>
          <a:p>
            <a:pPr indent="0" marL="0">
              <a:buNone/>
            </a:pPr>
            <a:r>
              <a:rPr lang="en-US" sz="1400" b="1" dirty="0">
                <a:solidFill>
                  <a:schemeClr val="tx2"/>
                </a:solidFill>
              </a:rPr>
              <a:t>E-commerce &amp; support teams</a:t>
            </a:r>
            <a:endParaRPr lang="en-US" sz="1400" dirty="0"/>
          </a:p>
          <a:p>
            <a:pPr indent="0" marL="0">
              <a:buNone/>
            </a:pPr>
            <a:r>
              <a:rPr lang="en-US" sz="1400" dirty="0">
                <a:solidFill>
                  <a:schemeClr val="tx1"/>
                </a:solidFill>
              </a:rPr>
              <a:t>Agents that handle refunds and customer messages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Competitive landscape</a:t>
            </a:r>
            <a:endParaRPr lang="en-US" sz="3200" dirty="0"/>
          </a:p>
        </p:txBody>
      </p:sp>
      <p:graphicFrame>
        <p:nvGraphicFramePr>
          <p:cNvPr id="9" name="Competition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749040"/>
                <a:gridCol w="1463040"/>
                <a:gridCol w="1463040"/>
                <a:gridCol w="1463040"/>
                <a:gridCol w="1463040"/>
                <a:gridCol w="1463040"/>
              </a:tblGrid>
              <a:tr h="594360">
                <a:tc>
                  <a:txBody>
                    <a:bodyPr/>
                    <a:lstStyle/>
                    <a:p>
                      <a:pPr algn="l" indent="0" marL="0">
                        <a:buNone/>
                      </a:pPr>
                      <a:endParaRPr lang="en-US" sz="14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Works across platforms</a:t>
                      </a:r>
                      <a:endParaRPr lang="en-US" sz="14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Prevents risky actions</a:t>
                      </a:r>
                      <a:endParaRPr lang="en-US" sz="14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Human approval</a:t>
                      </a:r>
                      <a:endParaRPr lang="en-US" sz="14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Spending limits</a:t>
                      </a:r>
                      <a:endParaRPr lang="en-US" sz="14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Simple self-serve</a:t>
                      </a:r>
                      <a:endParaRPr lang="en-US" sz="14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tx2"/>
                    </a:solidFill>
                  </a:tcPr>
                </a:tc>
              </a:tr>
              <a:tr h="713232">
                <a:tc>
                  <a:txBody>
                    <a:bodyPr/>
                    <a:lstStyle/>
                    <a:p>
                      <a:pPr algn="l" indent="0" marL="0">
                        <a:buNone/>
                      </a:pPr>
                      <a:r>
                        <a:rPr lang="en-US" sz="1300" dirty="0">
                          <a:solidFill>
                            <a:schemeClr val="tx2"/>
                          </a:solidFill>
                        </a:rPr>
                        <a:t>Monitoring tools</a:t>
                      </a:r>
                      <a:endParaRPr lang="en-US" sz="1300" dirty="0"/>
                    </a:p>
                    <a:p>
                      <a:pPr algn="l" indent="0" marL="0">
                        <a:buNone/>
                      </a:pPr>
                      <a:r>
                        <a:rPr lang="en-US" sz="1300" dirty="0">
                          <a:solidFill>
                            <a:schemeClr val="tx2"/>
                          </a:solidFill>
                        </a:rPr>
                        <a:t>(LangSmith, Langfuse, Helicone)</a:t>
                      </a:r>
                      <a:endParaRPr lang="en-US" sz="13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5"/>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5"/>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2"/>
                          </a:solidFill>
                        </a:rPr>
                        <a:t>Partial</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1"/>
                    </a:solidFill>
                  </a:tcPr>
                </a:tc>
              </a:tr>
              <a:tr h="713232">
                <a:tc>
                  <a:txBody>
                    <a:bodyPr/>
                    <a:lstStyle/>
                    <a:p>
                      <a:pPr algn="l" indent="0" marL="0">
                        <a:buNone/>
                      </a:pPr>
                      <a:r>
                        <a:rPr lang="en-US" sz="1300" dirty="0">
                          <a:solidFill>
                            <a:schemeClr val="tx2"/>
                          </a:solidFill>
                        </a:rPr>
                        <a:t>AI gateways &amp; connector platforms</a:t>
                      </a:r>
                      <a:endParaRPr lang="en-US" sz="1300" dirty="0"/>
                    </a:p>
                    <a:p>
                      <a:pPr algn="l" indent="0" marL="0">
                        <a:buNone/>
                      </a:pPr>
                      <a:r>
                        <a:rPr lang="en-US" sz="1300" dirty="0">
                          <a:solidFill>
                            <a:schemeClr val="tx2"/>
                          </a:solidFill>
                        </a:rPr>
                        <a:t>(Portkey, LiteLLM, Composio, Arcade)</a:t>
                      </a:r>
                      <a:endParaRPr lang="en-US" sz="13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Partial</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Partial</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Partial</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2"/>
                    </a:solidFill>
                  </a:tcPr>
                </a:tc>
              </a:tr>
              <a:tr h="713232">
                <a:tc>
                  <a:txBody>
                    <a:bodyPr/>
                    <a:lstStyle/>
                    <a:p>
                      <a:pPr algn="l" indent="0" marL="0">
                        <a:buNone/>
                      </a:pPr>
                      <a:r>
                        <a:rPr lang="en-US" sz="1300" dirty="0">
                          <a:solidFill>
                            <a:schemeClr val="tx2"/>
                          </a:solidFill>
                        </a:rPr>
                        <a:t>Platform-native approvals</a:t>
                      </a:r>
                      <a:endParaRPr lang="en-US" sz="1300" dirty="0"/>
                    </a:p>
                    <a:p>
                      <a:pPr algn="l" indent="0" marL="0">
                        <a:buNone/>
                      </a:pPr>
                      <a:r>
                        <a:rPr lang="en-US" sz="1300" dirty="0">
                          <a:solidFill>
                            <a:schemeClr val="tx2"/>
                          </a:solidFill>
                        </a:rPr>
                        <a:t>(n8n, Zapier, agent SDKs)</a:t>
                      </a:r>
                      <a:endParaRPr lang="en-US" sz="13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5"/>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2"/>
                          </a:solidFill>
                        </a:rPr>
                        <a:t>Partial</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5"/>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1"/>
                    </a:solidFill>
                  </a:tcPr>
                </a:tc>
              </a:tr>
              <a:tr h="713232">
                <a:tc>
                  <a:txBody>
                    <a:bodyPr/>
                    <a:lstStyle/>
                    <a:p>
                      <a:pPr algn="l" indent="0" marL="0">
                        <a:buNone/>
                      </a:pPr>
                      <a:r>
                        <a:rPr lang="en-US" sz="1300" dirty="0">
                          <a:solidFill>
                            <a:schemeClr val="tx2"/>
                          </a:solidFill>
                        </a:rPr>
                        <a:t>Enterprise AI security</a:t>
                      </a:r>
                      <a:endParaRPr lang="en-US" sz="1300" dirty="0"/>
                    </a:p>
                    <a:p>
                      <a:pPr algn="l" indent="0" marL="0">
                        <a:buNone/>
                      </a:pPr>
                      <a:r>
                        <a:rPr lang="en-US" sz="1300" dirty="0">
                          <a:solidFill>
                            <a:schemeClr val="tx2"/>
                          </a:solidFill>
                        </a:rPr>
                        <a:t>(Zenity, Noma, Palo Alto, Check Point)</a:t>
                      </a:r>
                      <a:endParaRPr lang="en-US" sz="13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Partial</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2"/>
                          </a:solidFill>
                        </a:rPr>
                        <a:t>Partial</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5"/>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bg2"/>
                    </a:solidFill>
                  </a:tcPr>
                </a:tc>
              </a:tr>
              <a:tr h="548640">
                <a:tc>
                  <a:txBody>
                    <a:bodyPr/>
                    <a:lstStyle/>
                    <a:p>
                      <a:pPr algn="l" indent="0" marL="0">
                        <a:buNone/>
                      </a:pPr>
                      <a:r>
                        <a:rPr lang="en-US" sz="1300" b="1" dirty="0">
                          <a:solidFill>
                            <a:schemeClr val="tx2"/>
                          </a:solidFill>
                        </a:rPr>
                        <a:t>AgentGuard</a:t>
                      </a:r>
                      <a:endParaRPr lang="en-US" sz="13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accent6"/>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accent6"/>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accent6"/>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accent6"/>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accent6"/>
                    </a:solidFill>
                  </a:tcPr>
                </a:tc>
                <a:tc>
                  <a:txBody>
                    <a:bodyPr/>
                    <a:lstStyle/>
                    <a:p>
                      <a:pPr algn="ctr" indent="0" marL="0">
                        <a:buNone/>
                      </a:pPr>
                      <a:r>
                        <a:rPr lang="en-US" sz="1600" b="1" dirty="0">
                          <a:solidFill>
                            <a:schemeClr val="accent1"/>
                          </a:solidFill>
                        </a:rPr>
                        <a:t>✓</a:t>
                      </a:r>
                      <a:endParaRPr lang="en-US" sz="1600" dirty="0"/>
                    </a:p>
                  </a:txBody>
                  <a:tcPr marL="73152" marR="73152" marT="73152" marB="73152"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chemeClr val="accent6"/>
                    </a:solidFill>
                  </a:tcPr>
                </a:tc>
              </a:tr>
            </a:tbl>
          </a:graphicData>
        </a:graphic>
      </p:graphicFrame>
      <p:sp>
        <p:nvSpPr>
          <p:cNvPr id="4" name="Competition takeaway"/>
          <p:cNvSpPr txBox="1"/>
          <p:nvPr/>
        </p:nvSpPr>
        <p:spPr>
          <a:xfrm>
            <a:off x="548640" y="5623560"/>
            <a:ext cx="11064240" cy="502920"/>
          </a:xfrm>
          <a:prstGeom prst="rect">
            <a:avLst/>
          </a:prstGeom>
          <a:noFill/>
          <a:ln/>
        </p:spPr>
        <p:txBody>
          <a:bodyPr wrap="square" lIns="0" tIns="0" rIns="0" bIns="0" rtlCol="0" anchor="t"/>
          <a:lstStyle/>
          <a:p>
            <a:pPr indent="0" marL="0">
              <a:buNone/>
            </a:pPr>
            <a:r>
              <a:rPr lang="en-US" sz="1500" i="1" dirty="0">
                <a:solidFill>
                  <a:schemeClr val="tx2"/>
                </a:solidFill>
              </a:rPr>
              <a:t>Our edge: one vendor-neutral layer combining visibility, rules, budgets, approvals and secure execution, simple enough for teams without a security department.</a:t>
            </a:r>
            <a:endParaRPr lang="en-US" sz="1500" dirty="0"/>
          </a:p>
        </p:txBody>
      </p:sp>
      <p:sp>
        <p:nvSpPr>
          <p:cNvPr id="5" name="Competition footnote"/>
          <p:cNvSpPr txBox="1"/>
          <p:nvPr/>
        </p:nvSpPr>
        <p:spPr>
          <a:xfrm>
            <a:off x="548640" y="6126480"/>
            <a:ext cx="5486400" cy="228600"/>
          </a:xfrm>
          <a:prstGeom prst="rect">
            <a:avLst/>
          </a:prstGeom>
          <a:noFill/>
          <a:ln/>
        </p:spPr>
        <p:txBody>
          <a:bodyPr wrap="square" lIns="0" tIns="0" rIns="0" bIns="0" rtlCol="0" anchor="t"/>
          <a:lstStyle/>
          <a:p>
            <a:pPr indent="0" marL="0">
              <a:buNone/>
            </a:pPr>
            <a:r>
              <a:rPr lang="en-US" sz="1000" dirty="0">
                <a:solidFill>
                  <a:schemeClr val="accent5"/>
                </a:solidFill>
              </a:rPr>
              <a:t>Category-level view; individual products vary.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Business model</a:t>
            </a:r>
            <a:endParaRPr lang="en-US" sz="3200" dirty="0"/>
          </a:p>
        </p:txBody>
      </p:sp>
      <p:sp>
        <p:nvSpPr>
          <p:cNvPr id="3" name="Plan card 1"/>
          <p:cNvSpPr/>
          <p:nvPr/>
        </p:nvSpPr>
        <p:spPr>
          <a:xfrm>
            <a:off x="548640" y="1371600"/>
            <a:ext cx="3520440" cy="2651760"/>
          </a:xfrm>
          <a:prstGeom prst="roundRect">
            <a:avLst>
              <a:gd name="adj" fmla="val 4138"/>
            </a:avLst>
          </a:prstGeom>
          <a:solidFill>
            <a:schemeClr val="bg2"/>
          </a:solidFill>
          <a:ln/>
        </p:spPr>
      </p:sp>
      <p:sp>
        <p:nvSpPr>
          <p:cNvPr id="4" name="Plan 1 circle"/>
          <p:cNvSpPr/>
          <p:nvPr/>
        </p:nvSpPr>
        <p:spPr>
          <a:xfrm>
            <a:off x="822960" y="1600200"/>
            <a:ext cx="685800" cy="685800"/>
          </a:xfrm>
          <a:prstGeom prst="ellipse">
            <a:avLst/>
          </a:prstGeom>
          <a:solidFill>
            <a:schemeClr val="tx2"/>
          </a:solidFill>
          <a:ln/>
        </p:spPr>
      </p:sp>
      <p:pic>
        <p:nvPicPr>
          <p:cNvPr id="5" name="Plan 1 icon" descr="preencoded.png">    </p:cNvPr>
          <p:cNvPicPr>
            <a:picLocks noChangeAspect="1"/>
          </p:cNvPicPr>
          <p:nvPr/>
        </p:nvPicPr>
        <p:blipFill>
          <a:blip r:embed="rId1"/>
          <a:stretch>
            <a:fillRect/>
          </a:stretch>
        </p:blipFill>
        <p:spPr>
          <a:xfrm>
            <a:off x="1008126" y="1785366"/>
            <a:ext cx="315468" cy="315468"/>
          </a:xfrm>
          <a:prstGeom prst="rect">
            <a:avLst/>
          </a:prstGeom>
        </p:spPr>
      </p:pic>
      <p:sp>
        <p:nvSpPr>
          <p:cNvPr id="6" name="Plan 1 name"/>
          <p:cNvSpPr txBox="1"/>
          <p:nvPr/>
        </p:nvSpPr>
        <p:spPr>
          <a:xfrm>
            <a:off x="1691640" y="1600200"/>
            <a:ext cx="2194560" cy="685800"/>
          </a:xfrm>
          <a:prstGeom prst="rect">
            <a:avLst/>
          </a:prstGeom>
          <a:noFill/>
          <a:ln/>
        </p:spPr>
        <p:txBody>
          <a:bodyPr wrap="square" lIns="0" tIns="0" rIns="0" bIns="0" rtlCol="0" anchor="ctr"/>
          <a:lstStyle/>
          <a:p>
            <a:pPr indent="0" marL="0">
              <a:buNone/>
            </a:pPr>
            <a:r>
              <a:rPr lang="en-US" sz="2400" b="1" dirty="0">
                <a:solidFill>
                  <a:schemeClr val="tx2"/>
                </a:solidFill>
              </a:rPr>
              <a:t>Free</a:t>
            </a:r>
            <a:endParaRPr lang="en-US" sz="2400" dirty="0"/>
          </a:p>
        </p:txBody>
      </p:sp>
      <p:sp>
        <p:nvSpPr>
          <p:cNvPr id="7" name="Plan 1 basis"/>
          <p:cNvSpPr txBox="1"/>
          <p:nvPr/>
        </p:nvSpPr>
        <p:spPr>
          <a:xfrm>
            <a:off x="822960" y="2468880"/>
            <a:ext cx="3017520" cy="548640"/>
          </a:xfrm>
          <a:prstGeom prst="rect">
            <a:avLst/>
          </a:prstGeom>
          <a:noFill/>
          <a:ln/>
        </p:spPr>
        <p:txBody>
          <a:bodyPr wrap="square" lIns="0" tIns="0" rIns="0" bIns="0" rtlCol="0" anchor="t"/>
          <a:lstStyle/>
          <a:p>
            <a:pPr indent="0" marL="0">
              <a:buNone/>
            </a:pPr>
            <a:r>
              <a:rPr lang="en-US" sz="1500" b="1" dirty="0">
                <a:solidFill>
                  <a:schemeClr val="accent1"/>
                </a:solidFill>
              </a:rPr>
              <a:t>Observe mode</a:t>
            </a:r>
            <a:endParaRPr lang="en-US" sz="1500" dirty="0"/>
          </a:p>
        </p:txBody>
      </p:sp>
      <p:sp>
        <p:nvSpPr>
          <p:cNvPr id="8" name="Plan 1 text"/>
          <p:cNvSpPr txBox="1"/>
          <p:nvPr/>
        </p:nvSpPr>
        <p:spPr>
          <a:xfrm>
            <a:off x="822960" y="3017520"/>
            <a:ext cx="3017520" cy="914400"/>
          </a:xfrm>
          <a:prstGeom prst="rect">
            <a:avLst/>
          </a:prstGeom>
          <a:noFill/>
          <a:ln/>
        </p:spPr>
        <p:txBody>
          <a:bodyPr wrap="square" lIns="0" tIns="0" rIns="0" bIns="0" rtlCol="0" anchor="t"/>
          <a:lstStyle/>
          <a:p>
            <a:pPr indent="0" marL="0">
              <a:buNone/>
            </a:pPr>
            <a:r>
              <a:rPr lang="en-US" sz="1400" dirty="0">
                <a:solidFill>
                  <a:schemeClr val="tx1"/>
                </a:solidFill>
              </a:rPr>
              <a:t>Connect agents, see activity and costs. The easy first step.</a:t>
            </a:r>
            <a:endParaRPr lang="en-US" sz="1400" dirty="0"/>
          </a:p>
        </p:txBody>
      </p:sp>
      <p:sp>
        <p:nvSpPr>
          <p:cNvPr id="9" name="Plan card 2"/>
          <p:cNvSpPr/>
          <p:nvPr/>
        </p:nvSpPr>
        <p:spPr>
          <a:xfrm>
            <a:off x="4343400" y="1371600"/>
            <a:ext cx="3520440" cy="2651760"/>
          </a:xfrm>
          <a:prstGeom prst="roundRect">
            <a:avLst>
              <a:gd name="adj" fmla="val 4138"/>
            </a:avLst>
          </a:prstGeom>
          <a:solidFill>
            <a:schemeClr val="tx2"/>
          </a:solidFill>
          <a:ln/>
        </p:spPr>
      </p:sp>
      <p:sp>
        <p:nvSpPr>
          <p:cNvPr id="10" name="Plan 2 circle"/>
          <p:cNvSpPr/>
          <p:nvPr/>
        </p:nvSpPr>
        <p:spPr>
          <a:xfrm>
            <a:off x="4617720" y="1600200"/>
            <a:ext cx="685800" cy="685800"/>
          </a:xfrm>
          <a:prstGeom prst="ellipse">
            <a:avLst/>
          </a:prstGeom>
          <a:solidFill>
            <a:schemeClr val="accent1"/>
          </a:solidFill>
          <a:ln/>
        </p:spPr>
      </p:sp>
      <p:pic>
        <p:nvPicPr>
          <p:cNvPr id="11" name="Plan 2 icon" descr="preencoded.png">    </p:cNvPr>
          <p:cNvPicPr>
            <a:picLocks noChangeAspect="1"/>
          </p:cNvPicPr>
          <p:nvPr/>
        </p:nvPicPr>
        <p:blipFill>
          <a:blip r:embed="rId2"/>
          <a:stretch>
            <a:fillRect/>
          </a:stretch>
        </p:blipFill>
        <p:spPr>
          <a:xfrm>
            <a:off x="4802886" y="1785366"/>
            <a:ext cx="315468" cy="315468"/>
          </a:xfrm>
          <a:prstGeom prst="rect">
            <a:avLst/>
          </a:prstGeom>
        </p:spPr>
      </p:pic>
      <p:sp>
        <p:nvSpPr>
          <p:cNvPr id="12" name="Plan 2 name"/>
          <p:cNvSpPr txBox="1"/>
          <p:nvPr/>
        </p:nvSpPr>
        <p:spPr>
          <a:xfrm>
            <a:off x="5486400" y="1600200"/>
            <a:ext cx="2194560" cy="685800"/>
          </a:xfrm>
          <a:prstGeom prst="rect">
            <a:avLst/>
          </a:prstGeom>
          <a:noFill/>
          <a:ln/>
        </p:spPr>
        <p:txBody>
          <a:bodyPr wrap="square" lIns="0" tIns="0" rIns="0" bIns="0" rtlCol="0" anchor="ctr"/>
          <a:lstStyle/>
          <a:p>
            <a:pPr indent="0" marL="0">
              <a:buNone/>
            </a:pPr>
            <a:r>
              <a:rPr lang="en-US" sz="2400" b="1" dirty="0">
                <a:solidFill>
                  <a:schemeClr val="bg1"/>
                </a:solidFill>
              </a:rPr>
              <a:t>Pro</a:t>
            </a:r>
            <a:endParaRPr lang="en-US" sz="2400" dirty="0"/>
          </a:p>
        </p:txBody>
      </p:sp>
      <p:sp>
        <p:nvSpPr>
          <p:cNvPr id="13" name="Plan 2 basis"/>
          <p:cNvSpPr txBox="1"/>
          <p:nvPr/>
        </p:nvSpPr>
        <p:spPr>
          <a:xfrm>
            <a:off x="4617720" y="2468880"/>
            <a:ext cx="3017520" cy="548640"/>
          </a:xfrm>
          <a:prstGeom prst="rect">
            <a:avLst/>
          </a:prstGeom>
          <a:noFill/>
          <a:ln/>
        </p:spPr>
        <p:txBody>
          <a:bodyPr wrap="square" lIns="0" tIns="0" rIns="0" bIns="0" rtlCol="0" anchor="t"/>
          <a:lstStyle/>
          <a:p>
            <a:pPr indent="0" marL="0">
              <a:buNone/>
            </a:pPr>
            <a:r>
              <a:rPr lang="en-US" sz="1500" b="1" dirty="0">
                <a:solidFill>
                  <a:schemeClr val="accent6"/>
                </a:solidFill>
              </a:rPr>
              <a:t>Priced by agents and governed actions</a:t>
            </a:r>
            <a:endParaRPr lang="en-US" sz="1500" dirty="0"/>
          </a:p>
        </p:txBody>
      </p:sp>
      <p:sp>
        <p:nvSpPr>
          <p:cNvPr id="14" name="Plan 2 text"/>
          <p:cNvSpPr txBox="1"/>
          <p:nvPr/>
        </p:nvSpPr>
        <p:spPr>
          <a:xfrm>
            <a:off x="4617720" y="3017520"/>
            <a:ext cx="3017520" cy="914400"/>
          </a:xfrm>
          <a:prstGeom prst="rect">
            <a:avLst/>
          </a:prstGeom>
          <a:noFill/>
          <a:ln/>
        </p:spPr>
        <p:txBody>
          <a:bodyPr wrap="square" lIns="0" tIns="0" rIns="0" bIns="0" rtlCol="0" anchor="t"/>
          <a:lstStyle/>
          <a:p>
            <a:pPr indent="0" marL="0">
              <a:buNone/>
            </a:pPr>
            <a:r>
              <a:rPr lang="en-US" sz="1400" dirty="0">
                <a:solidFill>
                  <a:schemeClr val="bg1"/>
                </a:solidFill>
              </a:rPr>
              <a:t>Rules, approvals, budgets, response checks, credential vault.</a:t>
            </a:r>
            <a:endParaRPr lang="en-US" sz="1400" dirty="0"/>
          </a:p>
        </p:txBody>
      </p:sp>
      <p:sp>
        <p:nvSpPr>
          <p:cNvPr id="15" name="Plan card 3"/>
          <p:cNvSpPr/>
          <p:nvPr/>
        </p:nvSpPr>
        <p:spPr>
          <a:xfrm>
            <a:off x="8138160" y="1371600"/>
            <a:ext cx="3520440" cy="2651760"/>
          </a:xfrm>
          <a:prstGeom prst="roundRect">
            <a:avLst>
              <a:gd name="adj" fmla="val 4138"/>
            </a:avLst>
          </a:prstGeom>
          <a:solidFill>
            <a:schemeClr val="bg2"/>
          </a:solidFill>
          <a:ln/>
        </p:spPr>
      </p:sp>
      <p:sp>
        <p:nvSpPr>
          <p:cNvPr id="16" name="Plan 3 circle"/>
          <p:cNvSpPr/>
          <p:nvPr/>
        </p:nvSpPr>
        <p:spPr>
          <a:xfrm>
            <a:off x="8412480" y="1600200"/>
            <a:ext cx="685800" cy="685800"/>
          </a:xfrm>
          <a:prstGeom prst="ellipse">
            <a:avLst/>
          </a:prstGeom>
          <a:solidFill>
            <a:schemeClr val="tx2"/>
          </a:solidFill>
          <a:ln/>
        </p:spPr>
      </p:sp>
      <p:pic>
        <p:nvPicPr>
          <p:cNvPr id="17" name="Plan 3 icon" descr="preencoded.png">    </p:cNvPr>
          <p:cNvPicPr>
            <a:picLocks noChangeAspect="1"/>
          </p:cNvPicPr>
          <p:nvPr/>
        </p:nvPicPr>
        <p:blipFill>
          <a:blip r:embed="rId3"/>
          <a:stretch>
            <a:fillRect/>
          </a:stretch>
        </p:blipFill>
        <p:spPr>
          <a:xfrm>
            <a:off x="8597646" y="1785366"/>
            <a:ext cx="315468" cy="315468"/>
          </a:xfrm>
          <a:prstGeom prst="rect">
            <a:avLst/>
          </a:prstGeom>
        </p:spPr>
      </p:pic>
      <p:sp>
        <p:nvSpPr>
          <p:cNvPr id="18" name="Plan 3 name"/>
          <p:cNvSpPr txBox="1"/>
          <p:nvPr/>
        </p:nvSpPr>
        <p:spPr>
          <a:xfrm>
            <a:off x="9281160" y="1600200"/>
            <a:ext cx="2194560" cy="685800"/>
          </a:xfrm>
          <a:prstGeom prst="rect">
            <a:avLst/>
          </a:prstGeom>
          <a:noFill/>
          <a:ln/>
        </p:spPr>
        <p:txBody>
          <a:bodyPr wrap="square" lIns="0" tIns="0" rIns="0" bIns="0" rtlCol="0" anchor="ctr"/>
          <a:lstStyle/>
          <a:p>
            <a:pPr indent="0" marL="0">
              <a:buNone/>
            </a:pPr>
            <a:r>
              <a:rPr lang="en-US" sz="2400" b="1" dirty="0">
                <a:solidFill>
                  <a:schemeClr val="tx2"/>
                </a:solidFill>
              </a:rPr>
              <a:t>Agency</a:t>
            </a:r>
            <a:endParaRPr lang="en-US" sz="2400" dirty="0"/>
          </a:p>
        </p:txBody>
      </p:sp>
      <p:sp>
        <p:nvSpPr>
          <p:cNvPr id="19" name="Plan 3 basis"/>
          <p:cNvSpPr txBox="1"/>
          <p:nvPr/>
        </p:nvSpPr>
        <p:spPr>
          <a:xfrm>
            <a:off x="8412480" y="2468880"/>
            <a:ext cx="3017520" cy="548640"/>
          </a:xfrm>
          <a:prstGeom prst="rect">
            <a:avLst/>
          </a:prstGeom>
          <a:noFill/>
          <a:ln/>
        </p:spPr>
        <p:txBody>
          <a:bodyPr wrap="square" lIns="0" tIns="0" rIns="0" bIns="0" rtlCol="0" anchor="t"/>
          <a:lstStyle/>
          <a:p>
            <a:pPr indent="0" marL="0">
              <a:buNone/>
            </a:pPr>
            <a:r>
              <a:rPr lang="en-US" sz="1500" b="1" dirty="0">
                <a:solidFill>
                  <a:schemeClr val="accent1"/>
                </a:solidFill>
              </a:rPr>
              <a:t>Many client workspaces</a:t>
            </a:r>
            <a:endParaRPr lang="en-US" sz="1500" dirty="0"/>
          </a:p>
        </p:txBody>
      </p:sp>
      <p:sp>
        <p:nvSpPr>
          <p:cNvPr id="20" name="Plan 3 text"/>
          <p:cNvSpPr txBox="1"/>
          <p:nvPr/>
        </p:nvSpPr>
        <p:spPr>
          <a:xfrm>
            <a:off x="8412480" y="3017520"/>
            <a:ext cx="3017520" cy="914400"/>
          </a:xfrm>
          <a:prstGeom prst="rect">
            <a:avLst/>
          </a:prstGeom>
          <a:noFill/>
          <a:ln/>
        </p:spPr>
        <p:txBody>
          <a:bodyPr wrap="square" lIns="0" tIns="0" rIns="0" bIns="0" rtlCol="0" anchor="t"/>
          <a:lstStyle/>
          <a:p>
            <a:pPr indent="0" marL="0">
              <a:buNone/>
            </a:pPr>
            <a:r>
              <a:rPr lang="en-US" sz="1400" dirty="0">
                <a:solidFill>
                  <a:schemeClr val="tx1"/>
                </a:solidFill>
              </a:rPr>
              <a:t>Manage every client’s agents from one account, with client views.</a:t>
            </a:r>
            <a:endParaRPr lang="en-US" sz="1400" dirty="0"/>
          </a:p>
        </p:txBody>
      </p:sp>
      <p:sp>
        <p:nvSpPr>
          <p:cNvPr id="21" name="Journey label"/>
          <p:cNvSpPr txBox="1"/>
          <p:nvPr/>
        </p:nvSpPr>
        <p:spPr>
          <a:xfrm>
            <a:off x="548640" y="4343400"/>
            <a:ext cx="11064240" cy="365760"/>
          </a:xfrm>
          <a:prstGeom prst="rect">
            <a:avLst/>
          </a:prstGeom>
          <a:noFill/>
          <a:ln/>
        </p:spPr>
        <p:txBody>
          <a:bodyPr wrap="square" lIns="0" tIns="0" rIns="0" bIns="0" rtlCol="0" anchor="t"/>
          <a:lstStyle/>
          <a:p>
            <a:pPr indent="0" marL="0">
              <a:buNone/>
            </a:pPr>
            <a:r>
              <a:rPr lang="en-US" sz="1700" b="1" dirty="0">
                <a:solidFill>
                  <a:schemeClr val="tx2"/>
                </a:solidFill>
              </a:rPr>
              <a:t>Land and expand: customers start free and grow into paid control</a:t>
            </a:r>
            <a:endParaRPr lang="en-US" sz="1700" dirty="0"/>
          </a:p>
        </p:txBody>
      </p:sp>
      <p:sp>
        <p:nvSpPr>
          <p:cNvPr id="22" name="Journey Observe"/>
          <p:cNvSpPr/>
          <p:nvPr/>
        </p:nvSpPr>
        <p:spPr>
          <a:xfrm>
            <a:off x="548640" y="4846320"/>
            <a:ext cx="2148840" cy="777240"/>
          </a:xfrm>
          <a:prstGeom prst="chevron">
            <a:avLst/>
          </a:prstGeom>
          <a:solidFill>
            <a:schemeClr val="accent5"/>
          </a:solidFill>
          <a:ln/>
        </p:spPr>
      </p:sp>
      <p:sp>
        <p:nvSpPr>
          <p:cNvPr id="23" name="Journey Observe text"/>
          <p:cNvSpPr txBox="1"/>
          <p:nvPr/>
        </p:nvSpPr>
        <p:spPr>
          <a:xfrm>
            <a:off x="868680" y="4846320"/>
            <a:ext cx="1508760" cy="777240"/>
          </a:xfrm>
          <a:prstGeom prst="rect">
            <a:avLst/>
          </a:prstGeom>
          <a:noFill/>
          <a:ln/>
        </p:spPr>
        <p:txBody>
          <a:bodyPr wrap="square" lIns="0" tIns="0" rIns="0" bIns="0" rtlCol="0" anchor="ctr"/>
          <a:lstStyle/>
          <a:p>
            <a:pPr algn="ctr" indent="0" marL="0">
              <a:buNone/>
            </a:pPr>
            <a:r>
              <a:rPr lang="en-US" sz="1600" b="1" dirty="0">
                <a:solidFill>
                  <a:schemeClr val="bg1"/>
                </a:solidFill>
              </a:rPr>
              <a:t>Observe</a:t>
            </a:r>
            <a:endParaRPr lang="en-US" sz="1600" dirty="0"/>
          </a:p>
        </p:txBody>
      </p:sp>
      <p:sp>
        <p:nvSpPr>
          <p:cNvPr id="24" name="Journey Recommend"/>
          <p:cNvSpPr/>
          <p:nvPr/>
        </p:nvSpPr>
        <p:spPr>
          <a:xfrm>
            <a:off x="2811780" y="4846320"/>
            <a:ext cx="2148840" cy="777240"/>
          </a:xfrm>
          <a:prstGeom prst="chevron">
            <a:avLst/>
          </a:prstGeom>
          <a:solidFill>
            <a:schemeClr val="accent5"/>
          </a:solidFill>
          <a:ln/>
        </p:spPr>
      </p:sp>
      <p:sp>
        <p:nvSpPr>
          <p:cNvPr id="25" name="Journey Recommend text"/>
          <p:cNvSpPr txBox="1"/>
          <p:nvPr/>
        </p:nvSpPr>
        <p:spPr>
          <a:xfrm>
            <a:off x="3131820" y="4846320"/>
            <a:ext cx="1508760" cy="777240"/>
          </a:xfrm>
          <a:prstGeom prst="rect">
            <a:avLst/>
          </a:prstGeom>
          <a:noFill/>
          <a:ln/>
        </p:spPr>
        <p:txBody>
          <a:bodyPr wrap="square" lIns="0" tIns="0" rIns="0" bIns="0" rtlCol="0" anchor="ctr"/>
          <a:lstStyle/>
          <a:p>
            <a:pPr algn="ctr" indent="0" marL="0">
              <a:buNone/>
            </a:pPr>
            <a:r>
              <a:rPr lang="en-US" sz="1600" b="1" dirty="0">
                <a:solidFill>
                  <a:schemeClr val="bg1"/>
                </a:solidFill>
              </a:rPr>
              <a:t>Recommend</a:t>
            </a:r>
            <a:endParaRPr lang="en-US" sz="1600" dirty="0"/>
          </a:p>
        </p:txBody>
      </p:sp>
      <p:sp>
        <p:nvSpPr>
          <p:cNvPr id="26" name="Journey Control"/>
          <p:cNvSpPr/>
          <p:nvPr/>
        </p:nvSpPr>
        <p:spPr>
          <a:xfrm>
            <a:off x="5074920" y="4846320"/>
            <a:ext cx="2148840" cy="777240"/>
          </a:xfrm>
          <a:prstGeom prst="chevron">
            <a:avLst/>
          </a:prstGeom>
          <a:solidFill>
            <a:schemeClr val="accent1"/>
          </a:solidFill>
          <a:ln/>
        </p:spPr>
      </p:sp>
      <p:sp>
        <p:nvSpPr>
          <p:cNvPr id="27" name="Journey Control text"/>
          <p:cNvSpPr txBox="1"/>
          <p:nvPr/>
        </p:nvSpPr>
        <p:spPr>
          <a:xfrm>
            <a:off x="5394960" y="4846320"/>
            <a:ext cx="1508760" cy="777240"/>
          </a:xfrm>
          <a:prstGeom prst="rect">
            <a:avLst/>
          </a:prstGeom>
          <a:noFill/>
          <a:ln/>
        </p:spPr>
        <p:txBody>
          <a:bodyPr wrap="square" lIns="0" tIns="0" rIns="0" bIns="0" rtlCol="0" anchor="ctr"/>
          <a:lstStyle/>
          <a:p>
            <a:pPr algn="ctr" indent="0" marL="0">
              <a:buNone/>
            </a:pPr>
            <a:r>
              <a:rPr lang="en-US" sz="1600" b="1" dirty="0">
                <a:solidFill>
                  <a:schemeClr val="bg1"/>
                </a:solidFill>
              </a:rPr>
              <a:t>Control</a:t>
            </a:r>
            <a:endParaRPr lang="en-US" sz="1600" dirty="0"/>
          </a:p>
        </p:txBody>
      </p:sp>
      <p:sp>
        <p:nvSpPr>
          <p:cNvPr id="28" name="Journey Enforce"/>
          <p:cNvSpPr/>
          <p:nvPr/>
        </p:nvSpPr>
        <p:spPr>
          <a:xfrm>
            <a:off x="7338060" y="4846320"/>
            <a:ext cx="2148840" cy="777240"/>
          </a:xfrm>
          <a:prstGeom prst="chevron">
            <a:avLst/>
          </a:prstGeom>
          <a:solidFill>
            <a:schemeClr val="accent1"/>
          </a:solidFill>
          <a:ln/>
        </p:spPr>
      </p:sp>
      <p:sp>
        <p:nvSpPr>
          <p:cNvPr id="29" name="Journey Enforce text"/>
          <p:cNvSpPr txBox="1"/>
          <p:nvPr/>
        </p:nvSpPr>
        <p:spPr>
          <a:xfrm>
            <a:off x="7658100" y="4846320"/>
            <a:ext cx="1508760" cy="777240"/>
          </a:xfrm>
          <a:prstGeom prst="rect">
            <a:avLst/>
          </a:prstGeom>
          <a:noFill/>
          <a:ln/>
        </p:spPr>
        <p:txBody>
          <a:bodyPr wrap="square" lIns="0" tIns="0" rIns="0" bIns="0" rtlCol="0" anchor="ctr"/>
          <a:lstStyle/>
          <a:p>
            <a:pPr algn="ctr" indent="0" marL="0">
              <a:buNone/>
            </a:pPr>
            <a:r>
              <a:rPr lang="en-US" sz="1600" b="1" dirty="0">
                <a:solidFill>
                  <a:schemeClr val="bg1"/>
                </a:solidFill>
              </a:rPr>
              <a:t>Enforce</a:t>
            </a:r>
            <a:endParaRPr lang="en-US" sz="1600" dirty="0"/>
          </a:p>
        </p:txBody>
      </p:sp>
      <p:sp>
        <p:nvSpPr>
          <p:cNvPr id="30" name="Journey Scale"/>
          <p:cNvSpPr/>
          <p:nvPr/>
        </p:nvSpPr>
        <p:spPr>
          <a:xfrm>
            <a:off x="9601200" y="4846320"/>
            <a:ext cx="2148840" cy="777240"/>
          </a:xfrm>
          <a:prstGeom prst="chevron">
            <a:avLst/>
          </a:prstGeom>
          <a:solidFill>
            <a:schemeClr val="accent1"/>
          </a:solidFill>
          <a:ln/>
        </p:spPr>
      </p:sp>
      <p:sp>
        <p:nvSpPr>
          <p:cNvPr id="31" name="Journey Scale text"/>
          <p:cNvSpPr txBox="1"/>
          <p:nvPr/>
        </p:nvSpPr>
        <p:spPr>
          <a:xfrm>
            <a:off x="9921240" y="4846320"/>
            <a:ext cx="1508760" cy="777240"/>
          </a:xfrm>
          <a:prstGeom prst="rect">
            <a:avLst/>
          </a:prstGeom>
          <a:noFill/>
          <a:ln/>
        </p:spPr>
        <p:txBody>
          <a:bodyPr wrap="square" lIns="0" tIns="0" rIns="0" bIns="0" rtlCol="0" anchor="ctr"/>
          <a:lstStyle/>
          <a:p>
            <a:pPr algn="ctr" indent="0" marL="0">
              <a:buNone/>
            </a:pPr>
            <a:r>
              <a:rPr lang="en-US" sz="1600" b="1" dirty="0">
                <a:solidFill>
                  <a:schemeClr val="bg1"/>
                </a:solidFill>
              </a:rPr>
              <a:t>Scale</a:t>
            </a:r>
            <a:endParaRPr lang="en-US" sz="1600" dirty="0"/>
          </a:p>
        </p:txBody>
      </p:sp>
      <p:sp>
        <p:nvSpPr>
          <p:cNvPr id="32" name="Pricing note"/>
          <p:cNvSpPr txBox="1"/>
          <p:nvPr/>
        </p:nvSpPr>
        <p:spPr>
          <a:xfrm>
            <a:off x="548640" y="5852160"/>
            <a:ext cx="11064240" cy="320040"/>
          </a:xfrm>
          <a:prstGeom prst="rect">
            <a:avLst/>
          </a:prstGeom>
          <a:noFill/>
          <a:ln/>
        </p:spPr>
        <p:txBody>
          <a:bodyPr wrap="square" lIns="0" tIns="0" rIns="0" bIns="0" rtlCol="0" anchor="t"/>
          <a:lstStyle/>
          <a:p>
            <a:pPr indent="0" marL="0">
              <a:buNone/>
            </a:pPr>
            <a:r>
              <a:rPr lang="en-US" sz="1200" i="1" dirty="0">
                <a:solidFill>
                  <a:schemeClr val="accent5"/>
                </a:solidFill>
              </a:rPr>
              <a:t>Prices to be validated with design partners during the beta.</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Go-to-market and early traction</a:t>
            </a:r>
            <a:endParaRPr lang="en-US" sz="3200" dirty="0"/>
          </a:p>
        </p:txBody>
      </p:sp>
      <p:sp>
        <p:nvSpPr>
          <p:cNvPr id="3" name="GTM title"/>
          <p:cNvSpPr txBox="1"/>
          <p:nvPr/>
        </p:nvSpPr>
        <p:spPr>
          <a:xfrm>
            <a:off x="548640" y="1371600"/>
            <a:ext cx="5760720" cy="411480"/>
          </a:xfrm>
          <a:prstGeom prst="rect">
            <a:avLst/>
          </a:prstGeom>
          <a:noFill/>
          <a:ln/>
        </p:spPr>
        <p:txBody>
          <a:bodyPr wrap="square" lIns="0" tIns="0" rIns="0" bIns="0" rtlCol="0" anchor="t"/>
          <a:lstStyle/>
          <a:p>
            <a:pPr indent="0" marL="0">
              <a:buNone/>
            </a:pPr>
            <a:r>
              <a:rPr lang="en-US" sz="2000" b="1" dirty="0">
                <a:solidFill>
                  <a:schemeClr val="tx2"/>
                </a:solidFill>
              </a:rPr>
              <a:t>How we reach customers</a:t>
            </a:r>
            <a:endParaRPr lang="en-US" sz="2000" dirty="0"/>
          </a:p>
        </p:txBody>
      </p:sp>
      <p:sp>
        <p:nvSpPr>
          <p:cNvPr id="4" name="GTM 1 circle"/>
          <p:cNvSpPr/>
          <p:nvPr/>
        </p:nvSpPr>
        <p:spPr>
          <a:xfrm>
            <a:off x="548640" y="1920240"/>
            <a:ext cx="685800" cy="685800"/>
          </a:xfrm>
          <a:prstGeom prst="ellipse">
            <a:avLst/>
          </a:prstGeom>
          <a:solidFill>
            <a:schemeClr val="accent1"/>
          </a:solidFill>
          <a:ln/>
        </p:spPr>
      </p:sp>
      <p:pic>
        <p:nvPicPr>
          <p:cNvPr id="5" name="GTM 1 icon" descr="preencoded.png">    </p:cNvPr>
          <p:cNvPicPr>
            <a:picLocks noChangeAspect="1"/>
          </p:cNvPicPr>
          <p:nvPr/>
        </p:nvPicPr>
        <p:blipFill>
          <a:blip r:embed="rId1"/>
          <a:stretch>
            <a:fillRect/>
          </a:stretch>
        </p:blipFill>
        <p:spPr>
          <a:xfrm>
            <a:off x="733806" y="2105406"/>
            <a:ext cx="315468" cy="315468"/>
          </a:xfrm>
          <a:prstGeom prst="rect">
            <a:avLst/>
          </a:prstGeom>
        </p:spPr>
      </p:pic>
      <p:sp>
        <p:nvSpPr>
          <p:cNvPr id="6" name="GTM 1 text"/>
          <p:cNvSpPr txBox="1"/>
          <p:nvPr/>
        </p:nvSpPr>
        <p:spPr>
          <a:xfrm>
            <a:off x="1417320" y="1874520"/>
            <a:ext cx="4846320" cy="868680"/>
          </a:xfrm>
          <a:prstGeom prst="rect">
            <a:avLst/>
          </a:prstGeom>
          <a:noFill/>
          <a:ln/>
        </p:spPr>
        <p:txBody>
          <a:bodyPr wrap="square" lIns="0" tIns="0" rIns="0" bIns="0" rtlCol="0" anchor="t"/>
          <a:lstStyle/>
          <a:p>
            <a:pPr indent="0" marL="0">
              <a:buNone/>
            </a:pPr>
            <a:r>
              <a:rPr lang="en-US" sz="1400" b="1" dirty="0">
                <a:solidFill>
                  <a:schemeClr val="tx2"/>
                </a:solidFill>
              </a:rPr>
              <a:t>System Memo audience</a:t>
            </a:r>
            <a:endParaRPr lang="en-US" sz="1400" dirty="0"/>
          </a:p>
          <a:p>
            <a:pPr indent="0" marL="0">
              <a:buNone/>
            </a:pPr>
            <a:r>
              <a:rPr lang="en-US" sz="1400" dirty="0">
                <a:solidFill>
                  <a:schemeClr val="tx1"/>
                </a:solidFill>
              </a:rPr>
              <a:t>Direct reach to people who build and sell AI automations</a:t>
            </a:r>
            <a:endParaRPr lang="en-US" sz="1400" dirty="0"/>
          </a:p>
        </p:txBody>
      </p:sp>
      <p:sp>
        <p:nvSpPr>
          <p:cNvPr id="7" name="GTM 2 circle"/>
          <p:cNvSpPr/>
          <p:nvPr/>
        </p:nvSpPr>
        <p:spPr>
          <a:xfrm>
            <a:off x="548640" y="2944368"/>
            <a:ext cx="685800" cy="685800"/>
          </a:xfrm>
          <a:prstGeom prst="ellipse">
            <a:avLst/>
          </a:prstGeom>
          <a:solidFill>
            <a:schemeClr val="accent1"/>
          </a:solidFill>
          <a:ln/>
        </p:spPr>
      </p:sp>
      <p:pic>
        <p:nvPicPr>
          <p:cNvPr id="8" name="GTM 2 icon" descr="preencoded.png">    </p:cNvPr>
          <p:cNvPicPr>
            <a:picLocks noChangeAspect="1"/>
          </p:cNvPicPr>
          <p:nvPr/>
        </p:nvPicPr>
        <p:blipFill>
          <a:blip r:embed="rId2"/>
          <a:stretch>
            <a:fillRect/>
          </a:stretch>
        </p:blipFill>
        <p:spPr>
          <a:xfrm>
            <a:off x="733806" y="3129534"/>
            <a:ext cx="315468" cy="315468"/>
          </a:xfrm>
          <a:prstGeom prst="rect">
            <a:avLst/>
          </a:prstGeom>
        </p:spPr>
      </p:pic>
      <p:sp>
        <p:nvSpPr>
          <p:cNvPr id="9" name="GTM 2 text"/>
          <p:cNvSpPr txBox="1"/>
          <p:nvPr/>
        </p:nvSpPr>
        <p:spPr>
          <a:xfrm>
            <a:off x="1417320" y="2898648"/>
            <a:ext cx="4846320" cy="868680"/>
          </a:xfrm>
          <a:prstGeom prst="rect">
            <a:avLst/>
          </a:prstGeom>
          <a:noFill/>
          <a:ln/>
        </p:spPr>
        <p:txBody>
          <a:bodyPr wrap="square" lIns="0" tIns="0" rIns="0" bIns="0" rtlCol="0" anchor="t"/>
          <a:lstStyle/>
          <a:p>
            <a:pPr indent="0" marL="0">
              <a:buNone/>
            </a:pPr>
            <a:r>
              <a:rPr lang="en-US" sz="1400" b="1" dirty="0">
                <a:solidFill>
                  <a:schemeClr val="tx2"/>
                </a:solidFill>
              </a:rPr>
              <a:t>Design partners</a:t>
            </a:r>
            <a:endParaRPr lang="en-US" sz="1400" dirty="0"/>
          </a:p>
          <a:p>
            <a:pPr indent="0" marL="0">
              <a:buNone/>
            </a:pPr>
            <a:r>
              <a:rPr lang="en-US" sz="1400" dirty="0">
                <a:solidFill>
                  <a:schemeClr val="tx1"/>
                </a:solidFill>
              </a:rPr>
              <a:t>10–20 early users shape the product in a private beta</a:t>
            </a:r>
            <a:endParaRPr lang="en-US" sz="1400" dirty="0"/>
          </a:p>
        </p:txBody>
      </p:sp>
      <p:sp>
        <p:nvSpPr>
          <p:cNvPr id="10" name="GTM 3 circle"/>
          <p:cNvSpPr/>
          <p:nvPr/>
        </p:nvSpPr>
        <p:spPr>
          <a:xfrm>
            <a:off x="548640" y="3968496"/>
            <a:ext cx="685800" cy="685800"/>
          </a:xfrm>
          <a:prstGeom prst="ellipse">
            <a:avLst/>
          </a:prstGeom>
          <a:solidFill>
            <a:schemeClr val="accent1"/>
          </a:solidFill>
          <a:ln/>
        </p:spPr>
      </p:sp>
      <p:pic>
        <p:nvPicPr>
          <p:cNvPr id="11" name="GTM 3 icon" descr="preencoded.png">    </p:cNvPr>
          <p:cNvPicPr>
            <a:picLocks noChangeAspect="1"/>
          </p:cNvPicPr>
          <p:nvPr/>
        </p:nvPicPr>
        <p:blipFill>
          <a:blip r:embed="rId3"/>
          <a:stretch>
            <a:fillRect/>
          </a:stretch>
        </p:blipFill>
        <p:spPr>
          <a:xfrm>
            <a:off x="733806" y="4153662"/>
            <a:ext cx="315468" cy="315468"/>
          </a:xfrm>
          <a:prstGeom prst="rect">
            <a:avLst/>
          </a:prstGeom>
        </p:spPr>
      </p:pic>
      <p:sp>
        <p:nvSpPr>
          <p:cNvPr id="12" name="GTM 3 text"/>
          <p:cNvSpPr txBox="1"/>
          <p:nvPr/>
        </p:nvSpPr>
        <p:spPr>
          <a:xfrm>
            <a:off x="1417320" y="3922776"/>
            <a:ext cx="4846320" cy="868680"/>
          </a:xfrm>
          <a:prstGeom prst="rect">
            <a:avLst/>
          </a:prstGeom>
          <a:noFill/>
          <a:ln/>
        </p:spPr>
        <p:txBody>
          <a:bodyPr wrap="square" lIns="0" tIns="0" rIns="0" bIns="0" rtlCol="0" anchor="t"/>
          <a:lstStyle/>
          <a:p>
            <a:pPr indent="0" marL="0">
              <a:buNone/>
            </a:pPr>
            <a:r>
              <a:rPr lang="en-US" sz="1400" b="1" dirty="0">
                <a:solidFill>
                  <a:schemeClr val="tx2"/>
                </a:solidFill>
              </a:rPr>
              <a:t>n8n &amp; Make communities</a:t>
            </a:r>
            <a:endParaRPr lang="en-US" sz="1400" dirty="0"/>
          </a:p>
          <a:p>
            <a:pPr indent="0" marL="0">
              <a:buNone/>
            </a:pPr>
            <a:r>
              <a:rPr lang="en-US" sz="1400" dirty="0">
                <a:solidFill>
                  <a:schemeClr val="tx1"/>
                </a:solidFill>
              </a:rPr>
              <a:t>Ready-made safe automation templates with AgentGuard built in</a:t>
            </a:r>
            <a:endParaRPr lang="en-US" sz="1400" dirty="0"/>
          </a:p>
        </p:txBody>
      </p:sp>
      <p:sp>
        <p:nvSpPr>
          <p:cNvPr id="13" name="GTM 4 circle"/>
          <p:cNvSpPr/>
          <p:nvPr/>
        </p:nvSpPr>
        <p:spPr>
          <a:xfrm>
            <a:off x="548640" y="4992624"/>
            <a:ext cx="685800" cy="685800"/>
          </a:xfrm>
          <a:prstGeom prst="ellipse">
            <a:avLst/>
          </a:prstGeom>
          <a:solidFill>
            <a:schemeClr val="accent1"/>
          </a:solidFill>
          <a:ln/>
        </p:spPr>
      </p:sp>
      <p:pic>
        <p:nvPicPr>
          <p:cNvPr id="14" name="GTM 4 icon" descr="preencoded.png">    </p:cNvPr>
          <p:cNvPicPr>
            <a:picLocks noChangeAspect="1"/>
          </p:cNvPicPr>
          <p:nvPr/>
        </p:nvPicPr>
        <p:blipFill>
          <a:blip r:embed="rId4"/>
          <a:stretch>
            <a:fillRect/>
          </a:stretch>
        </p:blipFill>
        <p:spPr>
          <a:xfrm>
            <a:off x="733806" y="5177790"/>
            <a:ext cx="315468" cy="315468"/>
          </a:xfrm>
          <a:prstGeom prst="rect">
            <a:avLst/>
          </a:prstGeom>
        </p:spPr>
      </p:pic>
      <p:sp>
        <p:nvSpPr>
          <p:cNvPr id="15" name="GTM 4 text"/>
          <p:cNvSpPr txBox="1"/>
          <p:nvPr/>
        </p:nvSpPr>
        <p:spPr>
          <a:xfrm>
            <a:off x="1417320" y="4946904"/>
            <a:ext cx="4846320" cy="868680"/>
          </a:xfrm>
          <a:prstGeom prst="rect">
            <a:avLst/>
          </a:prstGeom>
          <a:noFill/>
          <a:ln/>
        </p:spPr>
        <p:txBody>
          <a:bodyPr wrap="square" lIns="0" tIns="0" rIns="0" bIns="0" rtlCol="0" anchor="t"/>
          <a:lstStyle/>
          <a:p>
            <a:pPr indent="0" marL="0">
              <a:buNone/>
            </a:pPr>
            <a:r>
              <a:rPr lang="en-US" sz="1400" b="1" dirty="0">
                <a:solidFill>
                  <a:schemeClr val="tx2"/>
                </a:solidFill>
              </a:rPr>
              <a:t>Agency partners</a:t>
            </a:r>
            <a:endParaRPr lang="en-US" sz="1400" dirty="0"/>
          </a:p>
          <a:p>
            <a:pPr indent="0" marL="0">
              <a:buNone/>
            </a:pPr>
            <a:r>
              <a:rPr lang="en-US" sz="1400" dirty="0">
                <a:solidFill>
                  <a:schemeClr val="tx1"/>
                </a:solidFill>
              </a:rPr>
              <a:t>Agencies install AgentGuard for every client they serve</a:t>
            </a:r>
            <a:endParaRPr lang="en-US" sz="1400" dirty="0"/>
          </a:p>
        </p:txBody>
      </p:sp>
      <p:sp>
        <p:nvSpPr>
          <p:cNvPr id="16" name="Traction card"/>
          <p:cNvSpPr/>
          <p:nvPr/>
        </p:nvSpPr>
        <p:spPr>
          <a:xfrm>
            <a:off x="6675120" y="1371600"/>
            <a:ext cx="4937760" cy="4526280"/>
          </a:xfrm>
          <a:prstGeom prst="roundRect">
            <a:avLst>
              <a:gd name="adj" fmla="val 2424"/>
            </a:avLst>
          </a:prstGeom>
          <a:solidFill>
            <a:schemeClr val="bg2"/>
          </a:solidFill>
          <a:ln/>
        </p:spPr>
      </p:sp>
      <p:sp>
        <p:nvSpPr>
          <p:cNvPr id="17" name="Traction title"/>
          <p:cNvSpPr txBox="1"/>
          <p:nvPr/>
        </p:nvSpPr>
        <p:spPr>
          <a:xfrm>
            <a:off x="6949440" y="1600200"/>
            <a:ext cx="4389120" cy="411480"/>
          </a:xfrm>
          <a:prstGeom prst="rect">
            <a:avLst/>
          </a:prstGeom>
          <a:noFill/>
          <a:ln/>
        </p:spPr>
        <p:txBody>
          <a:bodyPr wrap="square" lIns="0" tIns="0" rIns="0" bIns="0" rtlCol="0" anchor="t"/>
          <a:lstStyle/>
          <a:p>
            <a:pPr indent="0" marL="0">
              <a:buNone/>
            </a:pPr>
            <a:r>
              <a:rPr lang="en-US" sz="2000" b="1" dirty="0">
                <a:solidFill>
                  <a:schemeClr val="tx2"/>
                </a:solidFill>
              </a:rPr>
              <a:t>Traction so far</a:t>
            </a:r>
            <a:endParaRPr lang="en-US" sz="2000" dirty="0"/>
          </a:p>
        </p:txBody>
      </p:sp>
      <p:sp>
        <p:nvSpPr>
          <p:cNvPr id="18" name="Traction 1 value"/>
          <p:cNvSpPr/>
          <p:nvPr/>
        </p:nvSpPr>
        <p:spPr>
          <a:xfrm>
            <a:off x="6949440" y="2194560"/>
            <a:ext cx="4389120" cy="566928"/>
          </a:xfrm>
          <a:prstGeom prst="roundRect">
            <a:avLst>
              <a:gd name="adj" fmla="val 12903"/>
            </a:avLst>
          </a:prstGeom>
          <a:solidFill>
            <a:srgbClr val="FFF3DD"/>
          </a:solidFill>
          <a:ln w="15875">
            <a:solidFill>
              <a:srgbClr val="E8930C"/>
            </a:solidFill>
            <a:prstDash val="dash"/>
          </a:ln>
        </p:spPr>
      </p:sp>
      <p:sp>
        <p:nvSpPr>
          <p:cNvPr id="19" name="Traction 1 value text"/>
          <p:cNvSpPr txBox="1"/>
          <p:nvPr/>
        </p:nvSpPr>
        <p:spPr>
          <a:xfrm>
            <a:off x="7086600" y="2194560"/>
            <a:ext cx="4114800" cy="566928"/>
          </a:xfrm>
          <a:prstGeom prst="rect">
            <a:avLst/>
          </a:prstGeom>
          <a:noFill/>
          <a:ln/>
        </p:spPr>
        <p:txBody>
          <a:bodyPr wrap="square" lIns="0" tIns="0" rIns="0" bIns="0" rtlCol="0" anchor="ctr"/>
          <a:lstStyle/>
          <a:p>
            <a:pPr algn="ctr" indent="0" marL="0">
              <a:buNone/>
            </a:pPr>
            <a:r>
              <a:rPr lang="en-US" sz="1600" b="1" dirty="0">
                <a:solidFill>
                  <a:schemeClr val="accent2"/>
                </a:solidFill>
              </a:rPr>
              <a:t>[To add: audience size]</a:t>
            </a:r>
            <a:endParaRPr lang="en-US" sz="1600" dirty="0"/>
          </a:p>
        </p:txBody>
      </p:sp>
      <p:sp>
        <p:nvSpPr>
          <p:cNvPr id="20" name="Traction 1 label"/>
          <p:cNvSpPr txBox="1"/>
          <p:nvPr/>
        </p:nvSpPr>
        <p:spPr>
          <a:xfrm>
            <a:off x="6949440" y="2834640"/>
            <a:ext cx="4389120" cy="320040"/>
          </a:xfrm>
          <a:prstGeom prst="rect">
            <a:avLst/>
          </a:prstGeom>
          <a:noFill/>
          <a:ln/>
        </p:spPr>
        <p:txBody>
          <a:bodyPr wrap="square" lIns="0" tIns="0" rIns="0" bIns="0" rtlCol="0" anchor="t"/>
          <a:lstStyle/>
          <a:p>
            <a:pPr indent="0" marL="0">
              <a:buNone/>
            </a:pPr>
            <a:r>
              <a:rPr lang="en-US" sz="1400" dirty="0">
                <a:solidFill>
                  <a:schemeClr val="accent5"/>
                </a:solidFill>
              </a:rPr>
              <a:t>System Memo followers / reach</a:t>
            </a:r>
            <a:endParaRPr lang="en-US" sz="1400" dirty="0"/>
          </a:p>
        </p:txBody>
      </p:sp>
      <p:sp>
        <p:nvSpPr>
          <p:cNvPr id="21" name="Traction 2 value"/>
          <p:cNvSpPr/>
          <p:nvPr/>
        </p:nvSpPr>
        <p:spPr>
          <a:xfrm>
            <a:off x="6949440" y="3383280"/>
            <a:ext cx="4389120" cy="566928"/>
          </a:xfrm>
          <a:prstGeom prst="roundRect">
            <a:avLst>
              <a:gd name="adj" fmla="val 12903"/>
            </a:avLst>
          </a:prstGeom>
          <a:solidFill>
            <a:srgbClr val="FFF3DD"/>
          </a:solidFill>
          <a:ln w="15875">
            <a:solidFill>
              <a:srgbClr val="E8930C"/>
            </a:solidFill>
            <a:prstDash val="dash"/>
          </a:ln>
        </p:spPr>
      </p:sp>
      <p:sp>
        <p:nvSpPr>
          <p:cNvPr id="22" name="Traction 2 value text"/>
          <p:cNvSpPr txBox="1"/>
          <p:nvPr/>
        </p:nvSpPr>
        <p:spPr>
          <a:xfrm>
            <a:off x="7086600" y="3383280"/>
            <a:ext cx="4114800" cy="566928"/>
          </a:xfrm>
          <a:prstGeom prst="rect">
            <a:avLst/>
          </a:prstGeom>
          <a:noFill/>
          <a:ln/>
        </p:spPr>
        <p:txBody>
          <a:bodyPr wrap="square" lIns="0" tIns="0" rIns="0" bIns="0" rtlCol="0" anchor="ctr"/>
          <a:lstStyle/>
          <a:p>
            <a:pPr algn="ctr" indent="0" marL="0">
              <a:buNone/>
            </a:pPr>
            <a:r>
              <a:rPr lang="en-US" sz="1600" b="1" dirty="0">
                <a:solidFill>
                  <a:schemeClr val="accent2"/>
                </a:solidFill>
              </a:rPr>
              <a:t>[To add: number]</a:t>
            </a:r>
            <a:endParaRPr lang="en-US" sz="1600" dirty="0"/>
          </a:p>
        </p:txBody>
      </p:sp>
      <p:sp>
        <p:nvSpPr>
          <p:cNvPr id="23" name="Traction 2 label"/>
          <p:cNvSpPr txBox="1"/>
          <p:nvPr/>
        </p:nvSpPr>
        <p:spPr>
          <a:xfrm>
            <a:off x="6949440" y="4023360"/>
            <a:ext cx="4389120" cy="320040"/>
          </a:xfrm>
          <a:prstGeom prst="rect">
            <a:avLst/>
          </a:prstGeom>
          <a:noFill/>
          <a:ln/>
        </p:spPr>
        <p:txBody>
          <a:bodyPr wrap="square" lIns="0" tIns="0" rIns="0" bIns="0" rtlCol="0" anchor="t"/>
          <a:lstStyle/>
          <a:p>
            <a:pPr indent="0" marL="0">
              <a:buNone/>
            </a:pPr>
            <a:r>
              <a:rPr lang="en-US" sz="1400" dirty="0">
                <a:solidFill>
                  <a:schemeClr val="accent5"/>
                </a:solidFill>
              </a:rPr>
              <a:t>Waitlist sign-ups or interested companies</a:t>
            </a:r>
            <a:endParaRPr lang="en-US" sz="1400" dirty="0"/>
          </a:p>
        </p:txBody>
      </p:sp>
      <p:sp>
        <p:nvSpPr>
          <p:cNvPr id="24" name="Traction 3 value"/>
          <p:cNvSpPr/>
          <p:nvPr/>
        </p:nvSpPr>
        <p:spPr>
          <a:xfrm>
            <a:off x="6949440" y="4572000"/>
            <a:ext cx="4389120" cy="566928"/>
          </a:xfrm>
          <a:prstGeom prst="roundRect">
            <a:avLst>
              <a:gd name="adj" fmla="val 12903"/>
            </a:avLst>
          </a:prstGeom>
          <a:solidFill>
            <a:srgbClr val="FFF3DD"/>
          </a:solidFill>
          <a:ln w="15875">
            <a:solidFill>
              <a:srgbClr val="E8930C"/>
            </a:solidFill>
            <a:prstDash val="dash"/>
          </a:ln>
        </p:spPr>
      </p:sp>
      <p:sp>
        <p:nvSpPr>
          <p:cNvPr id="25" name="Traction 3 value text"/>
          <p:cNvSpPr txBox="1"/>
          <p:nvPr/>
        </p:nvSpPr>
        <p:spPr>
          <a:xfrm>
            <a:off x="7086600" y="4572000"/>
            <a:ext cx="4114800" cy="566928"/>
          </a:xfrm>
          <a:prstGeom prst="rect">
            <a:avLst/>
          </a:prstGeom>
          <a:noFill/>
          <a:ln/>
        </p:spPr>
        <p:txBody>
          <a:bodyPr wrap="square" lIns="0" tIns="0" rIns="0" bIns="0" rtlCol="0" anchor="ctr"/>
          <a:lstStyle/>
          <a:p>
            <a:pPr algn="ctr" indent="0" marL="0">
              <a:buNone/>
            </a:pPr>
            <a:r>
              <a:rPr lang="en-US" sz="1600" b="1" dirty="0">
                <a:solidFill>
                  <a:schemeClr val="accent2"/>
                </a:solidFill>
              </a:rPr>
              <a:t>[To add: number]</a:t>
            </a:r>
            <a:endParaRPr lang="en-US" sz="1600" dirty="0"/>
          </a:p>
        </p:txBody>
      </p:sp>
      <p:sp>
        <p:nvSpPr>
          <p:cNvPr id="26" name="Traction 3 label"/>
          <p:cNvSpPr txBox="1"/>
          <p:nvPr/>
        </p:nvSpPr>
        <p:spPr>
          <a:xfrm>
            <a:off x="6949440" y="5212080"/>
            <a:ext cx="4389120" cy="320040"/>
          </a:xfrm>
          <a:prstGeom prst="rect">
            <a:avLst/>
          </a:prstGeom>
          <a:noFill/>
          <a:ln/>
        </p:spPr>
        <p:txBody>
          <a:bodyPr wrap="square" lIns="0" tIns="0" rIns="0" bIns="0" rtlCol="0" anchor="t"/>
          <a:lstStyle/>
          <a:p>
            <a:pPr indent="0" marL="0">
              <a:buNone/>
            </a:pPr>
            <a:r>
              <a:rPr lang="en-US" sz="1400" dirty="0">
                <a:solidFill>
                  <a:schemeClr val="accent5"/>
                </a:solidFill>
              </a:rPr>
              <a:t>Design partners committed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Roadmap: about 30 weeks to public launch</a:t>
            </a:r>
            <a:endParaRPr lang="en-US" sz="3200" dirty="0"/>
          </a:p>
        </p:txBody>
      </p:sp>
      <p:sp>
        <p:nvSpPr>
          <p:cNvPr id="3" name="Timeline line"/>
          <p:cNvSpPr/>
          <p:nvPr/>
        </p:nvSpPr>
        <p:spPr>
          <a:xfrm>
            <a:off x="914400" y="2057400"/>
            <a:ext cx="10332720" cy="0"/>
          </a:xfrm>
          <a:prstGeom prst="line">
            <a:avLst/>
          </a:prstGeom>
          <a:noFill/>
          <a:ln w="25400">
            <a:solidFill>
              <a:srgbClr val="5B6B80"/>
            </a:solidFill>
            <a:prstDash val="solid"/>
          </a:ln>
        </p:spPr>
      </p:sp>
      <p:sp>
        <p:nvSpPr>
          <p:cNvPr id="4" name="Phase 1 dot"/>
          <p:cNvSpPr/>
          <p:nvPr/>
        </p:nvSpPr>
        <p:spPr>
          <a:xfrm>
            <a:off x="1051560" y="1691640"/>
            <a:ext cx="731520" cy="731520"/>
          </a:xfrm>
          <a:prstGeom prst="ellipse">
            <a:avLst/>
          </a:prstGeom>
          <a:solidFill>
            <a:schemeClr val="accent1"/>
          </a:solidFill>
          <a:ln w="38100">
            <a:solidFill>
              <a:srgbClr val="FFFFFF"/>
            </a:solidFill>
            <a:prstDash val="solid"/>
          </a:ln>
        </p:spPr>
      </p:sp>
      <p:sp>
        <p:nvSpPr>
          <p:cNvPr id="5" name="Phase 1 number"/>
          <p:cNvSpPr txBox="1"/>
          <p:nvPr/>
        </p:nvSpPr>
        <p:spPr>
          <a:xfrm>
            <a:off x="1051560" y="169164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Phase 1 card"/>
          <p:cNvSpPr/>
          <p:nvPr/>
        </p:nvSpPr>
        <p:spPr>
          <a:xfrm>
            <a:off x="548640" y="2697480"/>
            <a:ext cx="1737360" cy="2468880"/>
          </a:xfrm>
          <a:prstGeom prst="roundRect">
            <a:avLst>
              <a:gd name="adj" fmla="val 6316"/>
            </a:avLst>
          </a:prstGeom>
          <a:solidFill>
            <a:schemeClr val="bg2"/>
          </a:solidFill>
          <a:ln/>
        </p:spPr>
      </p:sp>
      <p:sp>
        <p:nvSpPr>
          <p:cNvPr id="7" name="Phase 1 name"/>
          <p:cNvSpPr txBox="1"/>
          <p:nvPr/>
        </p:nvSpPr>
        <p:spPr>
          <a:xfrm>
            <a:off x="685800" y="2834640"/>
            <a:ext cx="1463040" cy="594360"/>
          </a:xfrm>
          <a:prstGeom prst="rect">
            <a:avLst/>
          </a:prstGeom>
          <a:noFill/>
          <a:ln/>
        </p:spPr>
        <p:txBody>
          <a:bodyPr wrap="square" lIns="0" tIns="0" rIns="0" bIns="0" rtlCol="0" anchor="t"/>
          <a:lstStyle/>
          <a:p>
            <a:pPr indent="0" marL="0">
              <a:buNone/>
            </a:pPr>
            <a:r>
              <a:rPr lang="en-US" sz="1500" b="1" dirty="0">
                <a:solidFill>
                  <a:schemeClr val="tx2"/>
                </a:solidFill>
              </a:rPr>
              <a:t>Discovery &amp; design</a:t>
            </a:r>
            <a:endParaRPr lang="en-US" sz="1500" dirty="0"/>
          </a:p>
        </p:txBody>
      </p:sp>
      <p:sp>
        <p:nvSpPr>
          <p:cNvPr id="8" name="Phase 1 weeks"/>
          <p:cNvSpPr txBox="1"/>
          <p:nvPr/>
        </p:nvSpPr>
        <p:spPr>
          <a:xfrm>
            <a:off x="685800" y="3429000"/>
            <a:ext cx="1463040" cy="274320"/>
          </a:xfrm>
          <a:prstGeom prst="rect">
            <a:avLst/>
          </a:prstGeom>
          <a:noFill/>
          <a:ln/>
        </p:spPr>
        <p:txBody>
          <a:bodyPr wrap="square" lIns="0" tIns="0" rIns="0" bIns="0" rtlCol="0" anchor="t"/>
          <a:lstStyle/>
          <a:p>
            <a:pPr indent="0" marL="0">
              <a:buNone/>
            </a:pPr>
            <a:r>
              <a:rPr lang="en-US" sz="1300" b="1" dirty="0">
                <a:solidFill>
                  <a:schemeClr val="accent1"/>
                </a:solidFill>
              </a:rPr>
              <a:t>Weeks 1–4</a:t>
            </a:r>
            <a:endParaRPr lang="en-US" sz="1300" dirty="0"/>
          </a:p>
        </p:txBody>
      </p:sp>
      <p:sp>
        <p:nvSpPr>
          <p:cNvPr id="9" name="Phase 1 text"/>
          <p:cNvSpPr txBox="1"/>
          <p:nvPr/>
        </p:nvSpPr>
        <p:spPr>
          <a:xfrm>
            <a:off x="685800" y="3749040"/>
            <a:ext cx="1463040" cy="1325880"/>
          </a:xfrm>
          <a:prstGeom prst="rect">
            <a:avLst/>
          </a:prstGeom>
          <a:noFill/>
          <a:ln/>
        </p:spPr>
        <p:txBody>
          <a:bodyPr wrap="square" lIns="0" tIns="0" rIns="0" bIns="0" rtlCol="0" anchor="t"/>
          <a:lstStyle/>
          <a:p>
            <a:pPr indent="0" marL="0">
              <a:buNone/>
            </a:pPr>
            <a:r>
              <a:rPr lang="en-US" sz="1400" dirty="0">
                <a:solidFill>
                  <a:schemeClr val="tx1"/>
                </a:solidFill>
              </a:rPr>
              <a:t>Customer interviews, designs, architecture</a:t>
            </a:r>
            <a:endParaRPr lang="en-US" sz="1400" dirty="0"/>
          </a:p>
        </p:txBody>
      </p:sp>
      <p:sp>
        <p:nvSpPr>
          <p:cNvPr id="10" name="Phase 2 dot"/>
          <p:cNvSpPr/>
          <p:nvPr/>
        </p:nvSpPr>
        <p:spPr>
          <a:xfrm>
            <a:off x="2926080" y="1691640"/>
            <a:ext cx="731520" cy="731520"/>
          </a:xfrm>
          <a:prstGeom prst="ellipse">
            <a:avLst/>
          </a:prstGeom>
          <a:solidFill>
            <a:schemeClr val="accent1"/>
          </a:solidFill>
          <a:ln w="38100">
            <a:solidFill>
              <a:srgbClr val="FFFFFF"/>
            </a:solidFill>
            <a:prstDash val="solid"/>
          </a:ln>
        </p:spPr>
      </p:sp>
      <p:sp>
        <p:nvSpPr>
          <p:cNvPr id="11" name="Phase 2 number"/>
          <p:cNvSpPr txBox="1"/>
          <p:nvPr/>
        </p:nvSpPr>
        <p:spPr>
          <a:xfrm>
            <a:off x="2926080" y="169164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Phase 2 card"/>
          <p:cNvSpPr/>
          <p:nvPr/>
        </p:nvSpPr>
        <p:spPr>
          <a:xfrm>
            <a:off x="2423160" y="2697480"/>
            <a:ext cx="1737360" cy="2468880"/>
          </a:xfrm>
          <a:prstGeom prst="roundRect">
            <a:avLst>
              <a:gd name="adj" fmla="val 6316"/>
            </a:avLst>
          </a:prstGeom>
          <a:solidFill>
            <a:schemeClr val="bg2"/>
          </a:solidFill>
          <a:ln/>
        </p:spPr>
      </p:sp>
      <p:sp>
        <p:nvSpPr>
          <p:cNvPr id="13" name="Phase 2 name"/>
          <p:cNvSpPr txBox="1"/>
          <p:nvPr/>
        </p:nvSpPr>
        <p:spPr>
          <a:xfrm>
            <a:off x="2560320" y="2834640"/>
            <a:ext cx="1463040" cy="594360"/>
          </a:xfrm>
          <a:prstGeom prst="rect">
            <a:avLst/>
          </a:prstGeom>
          <a:noFill/>
          <a:ln/>
        </p:spPr>
        <p:txBody>
          <a:bodyPr wrap="square" lIns="0" tIns="0" rIns="0" bIns="0" rtlCol="0" anchor="t"/>
          <a:lstStyle/>
          <a:p>
            <a:pPr indent="0" marL="0">
              <a:buNone/>
            </a:pPr>
            <a:r>
              <a:rPr lang="en-US" sz="1500" b="1" dirty="0">
                <a:solidFill>
                  <a:schemeClr val="tx2"/>
                </a:solidFill>
              </a:rPr>
              <a:t>See &amp; Control</a:t>
            </a:r>
            <a:endParaRPr lang="en-US" sz="1500" dirty="0"/>
          </a:p>
        </p:txBody>
      </p:sp>
      <p:sp>
        <p:nvSpPr>
          <p:cNvPr id="14" name="Phase 2 weeks"/>
          <p:cNvSpPr txBox="1"/>
          <p:nvPr/>
        </p:nvSpPr>
        <p:spPr>
          <a:xfrm>
            <a:off x="2560320" y="3429000"/>
            <a:ext cx="1463040" cy="274320"/>
          </a:xfrm>
          <a:prstGeom prst="rect">
            <a:avLst/>
          </a:prstGeom>
          <a:noFill/>
          <a:ln/>
        </p:spPr>
        <p:txBody>
          <a:bodyPr wrap="square" lIns="0" tIns="0" rIns="0" bIns="0" rtlCol="0" anchor="t"/>
          <a:lstStyle/>
          <a:p>
            <a:pPr indent="0" marL="0">
              <a:buNone/>
            </a:pPr>
            <a:r>
              <a:rPr lang="en-US" sz="1300" b="1" dirty="0">
                <a:solidFill>
                  <a:schemeClr val="accent1"/>
                </a:solidFill>
              </a:rPr>
              <a:t>Weeks 5–12</a:t>
            </a:r>
            <a:endParaRPr lang="en-US" sz="1300" dirty="0"/>
          </a:p>
        </p:txBody>
      </p:sp>
      <p:sp>
        <p:nvSpPr>
          <p:cNvPr id="15" name="Phase 2 text"/>
          <p:cNvSpPr txBox="1"/>
          <p:nvPr/>
        </p:nvSpPr>
        <p:spPr>
          <a:xfrm>
            <a:off x="2560320" y="3749040"/>
            <a:ext cx="1463040" cy="1325880"/>
          </a:xfrm>
          <a:prstGeom prst="rect">
            <a:avLst/>
          </a:prstGeom>
          <a:noFill/>
          <a:ln/>
        </p:spPr>
        <p:txBody>
          <a:bodyPr wrap="square" lIns="0" tIns="0" rIns="0" bIns="0" rtlCol="0" anchor="t"/>
          <a:lstStyle/>
          <a:p>
            <a:pPr indent="0" marL="0">
              <a:buNone/>
            </a:pPr>
            <a:r>
              <a:rPr lang="en-US" sz="1400" dirty="0">
                <a:solidFill>
                  <a:schemeClr val="tx1"/>
                </a:solidFill>
              </a:rPr>
              <a:t>Monitoring, rules, approvals, limits; n8n, Make, SDKs</a:t>
            </a:r>
            <a:endParaRPr lang="en-US" sz="1400" dirty="0"/>
          </a:p>
        </p:txBody>
      </p:sp>
      <p:sp>
        <p:nvSpPr>
          <p:cNvPr id="16" name="Phase 3 dot"/>
          <p:cNvSpPr/>
          <p:nvPr/>
        </p:nvSpPr>
        <p:spPr>
          <a:xfrm>
            <a:off x="4800600" y="1691640"/>
            <a:ext cx="731520" cy="731520"/>
          </a:xfrm>
          <a:prstGeom prst="ellipse">
            <a:avLst/>
          </a:prstGeom>
          <a:solidFill>
            <a:schemeClr val="accent1"/>
          </a:solidFill>
          <a:ln w="38100">
            <a:solidFill>
              <a:srgbClr val="FFFFFF"/>
            </a:solidFill>
            <a:prstDash val="solid"/>
          </a:ln>
        </p:spPr>
      </p:sp>
      <p:sp>
        <p:nvSpPr>
          <p:cNvPr id="17" name="Phase 3 number"/>
          <p:cNvSpPr txBox="1"/>
          <p:nvPr/>
        </p:nvSpPr>
        <p:spPr>
          <a:xfrm>
            <a:off x="4800600" y="169164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Phase 3 card"/>
          <p:cNvSpPr/>
          <p:nvPr/>
        </p:nvSpPr>
        <p:spPr>
          <a:xfrm>
            <a:off x="4297680" y="2697480"/>
            <a:ext cx="1737360" cy="2468880"/>
          </a:xfrm>
          <a:prstGeom prst="roundRect">
            <a:avLst>
              <a:gd name="adj" fmla="val 6316"/>
            </a:avLst>
          </a:prstGeom>
          <a:solidFill>
            <a:schemeClr val="bg2"/>
          </a:solidFill>
          <a:ln/>
        </p:spPr>
      </p:sp>
      <p:sp>
        <p:nvSpPr>
          <p:cNvPr id="19" name="Phase 3 name"/>
          <p:cNvSpPr txBox="1"/>
          <p:nvPr/>
        </p:nvSpPr>
        <p:spPr>
          <a:xfrm>
            <a:off x="4434840" y="2834640"/>
            <a:ext cx="1463040" cy="594360"/>
          </a:xfrm>
          <a:prstGeom prst="rect">
            <a:avLst/>
          </a:prstGeom>
          <a:noFill/>
          <a:ln/>
        </p:spPr>
        <p:txBody>
          <a:bodyPr wrap="square" lIns="0" tIns="0" rIns="0" bIns="0" rtlCol="0" anchor="t"/>
          <a:lstStyle/>
          <a:p>
            <a:pPr indent="0" marL="0">
              <a:buNone/>
            </a:pPr>
            <a:r>
              <a:rPr lang="en-US" sz="1500" b="1" dirty="0">
                <a:solidFill>
                  <a:schemeClr val="tx2"/>
                </a:solidFill>
              </a:rPr>
              <a:t>Gateways &amp; beta</a:t>
            </a:r>
            <a:endParaRPr lang="en-US" sz="1500" dirty="0"/>
          </a:p>
        </p:txBody>
      </p:sp>
      <p:sp>
        <p:nvSpPr>
          <p:cNvPr id="20" name="Phase 3 weeks"/>
          <p:cNvSpPr txBox="1"/>
          <p:nvPr/>
        </p:nvSpPr>
        <p:spPr>
          <a:xfrm>
            <a:off x="4434840" y="3429000"/>
            <a:ext cx="1463040" cy="274320"/>
          </a:xfrm>
          <a:prstGeom prst="rect">
            <a:avLst/>
          </a:prstGeom>
          <a:noFill/>
          <a:ln/>
        </p:spPr>
        <p:txBody>
          <a:bodyPr wrap="square" lIns="0" tIns="0" rIns="0" bIns="0" rtlCol="0" anchor="t"/>
          <a:lstStyle/>
          <a:p>
            <a:pPr indent="0" marL="0">
              <a:buNone/>
            </a:pPr>
            <a:r>
              <a:rPr lang="en-US" sz="1300" b="1" dirty="0">
                <a:solidFill>
                  <a:schemeClr val="accent1"/>
                </a:solidFill>
              </a:rPr>
              <a:t>Weeks 13–18</a:t>
            </a:r>
            <a:endParaRPr lang="en-US" sz="1300" dirty="0"/>
          </a:p>
        </p:txBody>
      </p:sp>
      <p:sp>
        <p:nvSpPr>
          <p:cNvPr id="21" name="Phase 3 text"/>
          <p:cNvSpPr txBox="1"/>
          <p:nvPr/>
        </p:nvSpPr>
        <p:spPr>
          <a:xfrm>
            <a:off x="4434840" y="3749040"/>
            <a:ext cx="1463040" cy="1325880"/>
          </a:xfrm>
          <a:prstGeom prst="rect">
            <a:avLst/>
          </a:prstGeom>
          <a:noFill/>
          <a:ln/>
        </p:spPr>
        <p:txBody>
          <a:bodyPr wrap="square" lIns="0" tIns="0" rIns="0" bIns="0" rtlCol="0" anchor="t"/>
          <a:lstStyle/>
          <a:p>
            <a:pPr indent="0" marL="0">
              <a:buNone/>
            </a:pPr>
            <a:r>
              <a:rPr lang="en-US" sz="1400" dirty="0">
                <a:solidFill>
                  <a:schemeClr val="tx1"/>
                </a:solidFill>
              </a:rPr>
              <a:t>AI-model and tool gateways; private beta starts</a:t>
            </a:r>
            <a:endParaRPr lang="en-US" sz="1400" dirty="0"/>
          </a:p>
        </p:txBody>
      </p:sp>
      <p:sp>
        <p:nvSpPr>
          <p:cNvPr id="22" name="Phase 4 dot"/>
          <p:cNvSpPr/>
          <p:nvPr/>
        </p:nvSpPr>
        <p:spPr>
          <a:xfrm>
            <a:off x="6675120" y="1691640"/>
            <a:ext cx="731520" cy="731520"/>
          </a:xfrm>
          <a:prstGeom prst="ellipse">
            <a:avLst/>
          </a:prstGeom>
          <a:solidFill>
            <a:schemeClr val="accent1"/>
          </a:solidFill>
          <a:ln w="38100">
            <a:solidFill>
              <a:srgbClr val="FFFFFF"/>
            </a:solidFill>
            <a:prstDash val="solid"/>
          </a:ln>
        </p:spPr>
      </p:sp>
      <p:sp>
        <p:nvSpPr>
          <p:cNvPr id="23" name="Phase 4 number"/>
          <p:cNvSpPr txBox="1"/>
          <p:nvPr/>
        </p:nvSpPr>
        <p:spPr>
          <a:xfrm>
            <a:off x="6675120" y="169164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4" name="Phase 4 card"/>
          <p:cNvSpPr/>
          <p:nvPr/>
        </p:nvSpPr>
        <p:spPr>
          <a:xfrm>
            <a:off x="6172200" y="2697480"/>
            <a:ext cx="1737360" cy="2468880"/>
          </a:xfrm>
          <a:prstGeom prst="roundRect">
            <a:avLst>
              <a:gd name="adj" fmla="val 6316"/>
            </a:avLst>
          </a:prstGeom>
          <a:solidFill>
            <a:schemeClr val="bg2"/>
          </a:solidFill>
          <a:ln/>
        </p:spPr>
      </p:sp>
      <p:sp>
        <p:nvSpPr>
          <p:cNvPr id="25" name="Phase 4 name"/>
          <p:cNvSpPr txBox="1"/>
          <p:nvPr/>
        </p:nvSpPr>
        <p:spPr>
          <a:xfrm>
            <a:off x="6309360" y="2834640"/>
            <a:ext cx="1463040" cy="594360"/>
          </a:xfrm>
          <a:prstGeom prst="rect">
            <a:avLst/>
          </a:prstGeom>
          <a:noFill/>
          <a:ln/>
        </p:spPr>
        <p:txBody>
          <a:bodyPr wrap="square" lIns="0" tIns="0" rIns="0" bIns="0" rtlCol="0" anchor="t"/>
          <a:lstStyle/>
          <a:p>
            <a:pPr indent="0" marL="0">
              <a:buNone/>
            </a:pPr>
            <a:r>
              <a:rPr lang="en-US" sz="1500" b="1" dirty="0">
                <a:solidFill>
                  <a:schemeClr val="tx2"/>
                </a:solidFill>
              </a:rPr>
              <a:t>Secure execution</a:t>
            </a:r>
            <a:endParaRPr lang="en-US" sz="1500" dirty="0"/>
          </a:p>
        </p:txBody>
      </p:sp>
      <p:sp>
        <p:nvSpPr>
          <p:cNvPr id="26" name="Phase 4 weeks"/>
          <p:cNvSpPr txBox="1"/>
          <p:nvPr/>
        </p:nvSpPr>
        <p:spPr>
          <a:xfrm>
            <a:off x="6309360" y="3429000"/>
            <a:ext cx="1463040" cy="274320"/>
          </a:xfrm>
          <a:prstGeom prst="rect">
            <a:avLst/>
          </a:prstGeom>
          <a:noFill/>
          <a:ln/>
        </p:spPr>
        <p:txBody>
          <a:bodyPr wrap="square" lIns="0" tIns="0" rIns="0" bIns="0" rtlCol="0" anchor="t"/>
          <a:lstStyle/>
          <a:p>
            <a:pPr indent="0" marL="0">
              <a:buNone/>
            </a:pPr>
            <a:r>
              <a:rPr lang="en-US" sz="1300" b="1" dirty="0">
                <a:solidFill>
                  <a:schemeClr val="accent1"/>
                </a:solidFill>
              </a:rPr>
              <a:t>Weeks 19–24</a:t>
            </a:r>
            <a:endParaRPr lang="en-US" sz="1300" dirty="0"/>
          </a:p>
        </p:txBody>
      </p:sp>
      <p:sp>
        <p:nvSpPr>
          <p:cNvPr id="27" name="Phase 4 text"/>
          <p:cNvSpPr txBox="1"/>
          <p:nvPr/>
        </p:nvSpPr>
        <p:spPr>
          <a:xfrm>
            <a:off x="6309360" y="3749040"/>
            <a:ext cx="1463040" cy="1325880"/>
          </a:xfrm>
          <a:prstGeom prst="rect">
            <a:avLst/>
          </a:prstGeom>
          <a:noFill/>
          <a:ln/>
        </p:spPr>
        <p:txBody>
          <a:bodyPr wrap="square" lIns="0" tIns="0" rIns="0" bIns="0" rtlCol="0" anchor="t"/>
          <a:lstStyle/>
          <a:p>
            <a:pPr indent="0" marL="0">
              <a:buNone/>
            </a:pPr>
            <a:r>
              <a:rPr lang="en-US" sz="1400" dirty="0">
                <a:solidFill>
                  <a:schemeClr val="tx1"/>
                </a:solidFill>
              </a:rPr>
              <a:t>Credential vault, Stripe, Slack, HubSpot</a:t>
            </a:r>
            <a:endParaRPr lang="en-US" sz="1400" dirty="0"/>
          </a:p>
        </p:txBody>
      </p:sp>
      <p:sp>
        <p:nvSpPr>
          <p:cNvPr id="28" name="Phase 5 dot"/>
          <p:cNvSpPr/>
          <p:nvPr/>
        </p:nvSpPr>
        <p:spPr>
          <a:xfrm>
            <a:off x="8549640" y="1691640"/>
            <a:ext cx="731520" cy="731520"/>
          </a:xfrm>
          <a:prstGeom prst="ellipse">
            <a:avLst/>
          </a:prstGeom>
          <a:solidFill>
            <a:schemeClr val="accent2"/>
          </a:solidFill>
          <a:ln w="38100">
            <a:solidFill>
              <a:srgbClr val="FFFFFF"/>
            </a:solidFill>
            <a:prstDash val="solid"/>
          </a:ln>
        </p:spPr>
      </p:sp>
      <p:sp>
        <p:nvSpPr>
          <p:cNvPr id="29" name="Phase 5 number"/>
          <p:cNvSpPr txBox="1"/>
          <p:nvPr/>
        </p:nvSpPr>
        <p:spPr>
          <a:xfrm>
            <a:off x="8549640" y="169164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0" name="Phase 5 card"/>
          <p:cNvSpPr/>
          <p:nvPr/>
        </p:nvSpPr>
        <p:spPr>
          <a:xfrm>
            <a:off x="8046720" y="2697480"/>
            <a:ext cx="1737360" cy="2468880"/>
          </a:xfrm>
          <a:prstGeom prst="roundRect">
            <a:avLst>
              <a:gd name="adj" fmla="val 6316"/>
            </a:avLst>
          </a:prstGeom>
          <a:solidFill>
            <a:schemeClr val="bg2"/>
          </a:solidFill>
          <a:ln/>
        </p:spPr>
      </p:sp>
      <p:sp>
        <p:nvSpPr>
          <p:cNvPr id="31" name="Phase 5 name"/>
          <p:cNvSpPr txBox="1"/>
          <p:nvPr/>
        </p:nvSpPr>
        <p:spPr>
          <a:xfrm>
            <a:off x="8183880" y="2834640"/>
            <a:ext cx="1463040" cy="594360"/>
          </a:xfrm>
          <a:prstGeom prst="rect">
            <a:avLst/>
          </a:prstGeom>
          <a:noFill/>
          <a:ln/>
        </p:spPr>
        <p:txBody>
          <a:bodyPr wrap="square" lIns="0" tIns="0" rIns="0" bIns="0" rtlCol="0" anchor="t"/>
          <a:lstStyle/>
          <a:p>
            <a:pPr indent="0" marL="0">
              <a:buNone/>
            </a:pPr>
            <a:r>
              <a:rPr lang="en-US" sz="1500" b="1" dirty="0">
                <a:solidFill>
                  <a:schemeClr val="tx2"/>
                </a:solidFill>
              </a:rPr>
              <a:t>Hardening &amp; launch</a:t>
            </a:r>
            <a:endParaRPr lang="en-US" sz="1500" dirty="0"/>
          </a:p>
        </p:txBody>
      </p:sp>
      <p:sp>
        <p:nvSpPr>
          <p:cNvPr id="32" name="Phase 5 weeks"/>
          <p:cNvSpPr txBox="1"/>
          <p:nvPr/>
        </p:nvSpPr>
        <p:spPr>
          <a:xfrm>
            <a:off x="8183880" y="3429000"/>
            <a:ext cx="1463040" cy="274320"/>
          </a:xfrm>
          <a:prstGeom prst="rect">
            <a:avLst/>
          </a:prstGeom>
          <a:noFill/>
          <a:ln/>
        </p:spPr>
        <p:txBody>
          <a:bodyPr wrap="square" lIns="0" tIns="0" rIns="0" bIns="0" rtlCol="0" anchor="t"/>
          <a:lstStyle/>
          <a:p>
            <a:pPr indent="0" marL="0">
              <a:buNone/>
            </a:pPr>
            <a:r>
              <a:rPr lang="en-US" sz="1300" b="1" dirty="0">
                <a:solidFill>
                  <a:schemeClr val="accent2"/>
                </a:solidFill>
              </a:rPr>
              <a:t>Weeks 25–30</a:t>
            </a:r>
            <a:endParaRPr lang="en-US" sz="1300" dirty="0"/>
          </a:p>
        </p:txBody>
      </p:sp>
      <p:sp>
        <p:nvSpPr>
          <p:cNvPr id="33" name="Phase 5 text"/>
          <p:cNvSpPr txBox="1"/>
          <p:nvPr/>
        </p:nvSpPr>
        <p:spPr>
          <a:xfrm>
            <a:off x="8183880" y="3749040"/>
            <a:ext cx="1463040" cy="1325880"/>
          </a:xfrm>
          <a:prstGeom prst="rect">
            <a:avLst/>
          </a:prstGeom>
          <a:noFill/>
          <a:ln/>
        </p:spPr>
        <p:txBody>
          <a:bodyPr wrap="square" lIns="0" tIns="0" rIns="0" bIns="0" rtlCol="0" anchor="t"/>
          <a:lstStyle/>
          <a:p>
            <a:pPr indent="0" marL="0">
              <a:buNone/>
            </a:pPr>
            <a:r>
              <a:rPr lang="en-US" sz="1400" dirty="0">
                <a:solidFill>
                  <a:schemeClr val="tx1"/>
                </a:solidFill>
              </a:rPr>
              <a:t>Independent security test, public launch</a:t>
            </a:r>
            <a:endParaRPr lang="en-US" sz="1400" dirty="0"/>
          </a:p>
        </p:txBody>
      </p:sp>
      <p:sp>
        <p:nvSpPr>
          <p:cNvPr id="34" name="Phase 6 dot"/>
          <p:cNvSpPr/>
          <p:nvPr/>
        </p:nvSpPr>
        <p:spPr>
          <a:xfrm>
            <a:off x="10424160" y="1691640"/>
            <a:ext cx="731520" cy="731520"/>
          </a:xfrm>
          <a:prstGeom prst="ellipse">
            <a:avLst/>
          </a:prstGeom>
          <a:solidFill>
            <a:schemeClr val="accent1"/>
          </a:solidFill>
          <a:ln w="38100">
            <a:solidFill>
              <a:srgbClr val="FFFFFF"/>
            </a:solidFill>
            <a:prstDash val="solid"/>
          </a:ln>
        </p:spPr>
      </p:sp>
      <p:sp>
        <p:nvSpPr>
          <p:cNvPr id="35" name="Phase 6 number"/>
          <p:cNvSpPr txBox="1"/>
          <p:nvPr/>
        </p:nvSpPr>
        <p:spPr>
          <a:xfrm>
            <a:off x="10424160" y="169164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6" name="Phase 6 card"/>
          <p:cNvSpPr/>
          <p:nvPr/>
        </p:nvSpPr>
        <p:spPr>
          <a:xfrm>
            <a:off x="9921240" y="2697480"/>
            <a:ext cx="1737360" cy="2468880"/>
          </a:xfrm>
          <a:prstGeom prst="roundRect">
            <a:avLst>
              <a:gd name="adj" fmla="val 6316"/>
            </a:avLst>
          </a:prstGeom>
          <a:solidFill>
            <a:schemeClr val="bg2"/>
          </a:solidFill>
          <a:ln/>
        </p:spPr>
      </p:sp>
      <p:sp>
        <p:nvSpPr>
          <p:cNvPr id="37" name="Phase 6 name"/>
          <p:cNvSpPr txBox="1"/>
          <p:nvPr/>
        </p:nvSpPr>
        <p:spPr>
          <a:xfrm>
            <a:off x="10058400" y="2834640"/>
            <a:ext cx="1463040" cy="594360"/>
          </a:xfrm>
          <a:prstGeom prst="rect">
            <a:avLst/>
          </a:prstGeom>
          <a:noFill/>
          <a:ln/>
        </p:spPr>
        <p:txBody>
          <a:bodyPr wrap="square" lIns="0" tIns="0" rIns="0" bIns="0" rtlCol="0" anchor="t"/>
          <a:lstStyle/>
          <a:p>
            <a:pPr indent="0" marL="0">
              <a:buNone/>
            </a:pPr>
            <a:r>
              <a:rPr lang="en-US" sz="1500" b="1" dirty="0">
                <a:solidFill>
                  <a:schemeClr val="tx2"/>
                </a:solidFill>
              </a:rPr>
              <a:t>Grow</a:t>
            </a:r>
            <a:endParaRPr lang="en-US" sz="1500" dirty="0"/>
          </a:p>
        </p:txBody>
      </p:sp>
      <p:sp>
        <p:nvSpPr>
          <p:cNvPr id="38" name="Phase 6 weeks"/>
          <p:cNvSpPr txBox="1"/>
          <p:nvPr/>
        </p:nvSpPr>
        <p:spPr>
          <a:xfrm>
            <a:off x="10058400" y="3429000"/>
            <a:ext cx="1463040" cy="274320"/>
          </a:xfrm>
          <a:prstGeom prst="rect">
            <a:avLst/>
          </a:prstGeom>
          <a:noFill/>
          <a:ln/>
        </p:spPr>
        <p:txBody>
          <a:bodyPr wrap="square" lIns="0" tIns="0" rIns="0" bIns="0" rtlCol="0" anchor="t"/>
          <a:lstStyle/>
          <a:p>
            <a:pPr indent="0" marL="0">
              <a:buNone/>
            </a:pPr>
            <a:r>
              <a:rPr lang="en-US" sz="1300" b="1" dirty="0">
                <a:solidFill>
                  <a:schemeClr val="accent1"/>
                </a:solidFill>
              </a:rPr>
              <a:t>After launch</a:t>
            </a:r>
            <a:endParaRPr lang="en-US" sz="1300" dirty="0"/>
          </a:p>
        </p:txBody>
      </p:sp>
      <p:sp>
        <p:nvSpPr>
          <p:cNvPr id="39" name="Phase 6 text"/>
          <p:cNvSpPr txBox="1"/>
          <p:nvPr/>
        </p:nvSpPr>
        <p:spPr>
          <a:xfrm>
            <a:off x="10058400" y="3749040"/>
            <a:ext cx="1463040" cy="1325880"/>
          </a:xfrm>
          <a:prstGeom prst="rect">
            <a:avLst/>
          </a:prstGeom>
          <a:noFill/>
          <a:ln/>
        </p:spPr>
        <p:txBody>
          <a:bodyPr wrap="square" lIns="0" tIns="0" rIns="0" bIns="0" rtlCol="0" anchor="t"/>
          <a:lstStyle/>
          <a:p>
            <a:pPr indent="0" marL="0">
              <a:buNone/>
            </a:pPr>
            <a:r>
              <a:rPr lang="en-US" sz="1400" dirty="0">
                <a:solidFill>
                  <a:schemeClr val="tx1"/>
                </a:solidFill>
              </a:rPr>
              <a:t>More connectors, smart rules, agency features</a:t>
            </a:r>
            <a:endParaRPr lang="en-US" sz="1400" dirty="0"/>
          </a:p>
        </p:txBody>
      </p:sp>
      <p:sp>
        <p:nvSpPr>
          <p:cNvPr id="40" name="Roadmap takeaway card"/>
          <p:cNvSpPr/>
          <p:nvPr/>
        </p:nvSpPr>
        <p:spPr>
          <a:xfrm>
            <a:off x="548640" y="5394960"/>
            <a:ext cx="11064240" cy="685800"/>
          </a:xfrm>
          <a:prstGeom prst="roundRect">
            <a:avLst>
              <a:gd name="adj" fmla="val 16000"/>
            </a:avLst>
          </a:prstGeom>
          <a:solidFill>
            <a:schemeClr val="accent6"/>
          </a:solidFill>
          <a:ln/>
        </p:spPr>
      </p:sp>
      <p:sp>
        <p:nvSpPr>
          <p:cNvPr id="41" name="Roadmap takeaway"/>
          <p:cNvSpPr txBox="1"/>
          <p:nvPr/>
        </p:nvSpPr>
        <p:spPr>
          <a:xfrm>
            <a:off x="822960" y="5394960"/>
            <a:ext cx="10515600" cy="685800"/>
          </a:xfrm>
          <a:prstGeom prst="rect">
            <a:avLst/>
          </a:prstGeom>
          <a:noFill/>
          <a:ln/>
        </p:spPr>
        <p:txBody>
          <a:bodyPr wrap="square" lIns="0" tIns="0" rIns="0" bIns="0" rtlCol="0" anchor="ctr"/>
          <a:lstStyle/>
          <a:p>
            <a:pPr indent="0" marL="0">
              <a:buNone/>
            </a:pPr>
            <a:r>
              <a:rPr lang="en-US" sz="1500" b="1" dirty="0">
                <a:solidFill>
                  <a:schemeClr val="tx2"/>
                </a:solidFill>
              </a:rPr>
              <a:t>Value early: </a:t>
            </a:r>
            <a:pPr indent="0" marL="0">
              <a:buNone/>
            </a:pPr>
            <a:r>
              <a:rPr lang="en-US" sz="1500" dirty="0">
                <a:solidFill>
                  <a:schemeClr val="tx1"/>
                </a:solidFill>
              </a:rPr>
              <a:t>beta users get monitoring and approvals from around week 15, months before the public launch.</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Team</a:t>
            </a:r>
            <a:endParaRPr lang="en-US" sz="3200" dirty="0"/>
          </a:p>
        </p:txBody>
      </p:sp>
      <p:sp>
        <p:nvSpPr>
          <p:cNvPr id="3" name="Team card 1"/>
          <p:cNvSpPr/>
          <p:nvPr/>
        </p:nvSpPr>
        <p:spPr>
          <a:xfrm>
            <a:off x="548640" y="1417320"/>
            <a:ext cx="5394960" cy="3520440"/>
          </a:xfrm>
          <a:prstGeom prst="roundRect">
            <a:avLst>
              <a:gd name="adj" fmla="val 3117"/>
            </a:avLst>
          </a:prstGeom>
          <a:solidFill>
            <a:schemeClr val="bg2"/>
          </a:solidFill>
          <a:ln/>
        </p:spPr>
      </p:sp>
      <p:sp>
        <p:nvSpPr>
          <p:cNvPr id="4" name="Team 1 circle"/>
          <p:cNvSpPr/>
          <p:nvPr/>
        </p:nvSpPr>
        <p:spPr>
          <a:xfrm>
            <a:off x="868680" y="1691640"/>
            <a:ext cx="1005840" cy="1005840"/>
          </a:xfrm>
          <a:prstGeom prst="ellipse">
            <a:avLst/>
          </a:prstGeom>
          <a:solidFill>
            <a:schemeClr val="tx2"/>
          </a:solidFill>
          <a:ln/>
        </p:spPr>
      </p:sp>
      <p:pic>
        <p:nvPicPr>
          <p:cNvPr id="5" name="Team 1 icon" descr="preencoded.png">    </p:cNvPr>
          <p:cNvPicPr>
            <a:picLocks noChangeAspect="1"/>
          </p:cNvPicPr>
          <p:nvPr/>
        </p:nvPicPr>
        <p:blipFill>
          <a:blip r:embed="rId1"/>
          <a:stretch>
            <a:fillRect/>
          </a:stretch>
        </p:blipFill>
        <p:spPr>
          <a:xfrm>
            <a:off x="1140257" y="1963217"/>
            <a:ext cx="462686" cy="462686"/>
          </a:xfrm>
          <a:prstGeom prst="rect">
            <a:avLst/>
          </a:prstGeom>
        </p:spPr>
      </p:pic>
      <p:sp>
        <p:nvSpPr>
          <p:cNvPr id="6" name="Team 1 name"/>
          <p:cNvSpPr txBox="1"/>
          <p:nvPr/>
        </p:nvSpPr>
        <p:spPr>
          <a:xfrm>
            <a:off x="2103120" y="1737360"/>
            <a:ext cx="3566160" cy="457200"/>
          </a:xfrm>
          <a:prstGeom prst="rect">
            <a:avLst/>
          </a:prstGeom>
          <a:noFill/>
          <a:ln/>
        </p:spPr>
        <p:txBody>
          <a:bodyPr wrap="square" lIns="0" tIns="0" rIns="0" bIns="0" rtlCol="0" anchor="t"/>
          <a:lstStyle/>
          <a:p>
            <a:pPr indent="0" marL="0">
              <a:buNone/>
            </a:pPr>
            <a:r>
              <a:rPr lang="en-US" sz="2400" b="1" dirty="0">
                <a:solidFill>
                  <a:schemeClr val="tx2"/>
                </a:solidFill>
              </a:rPr>
              <a:t>Pratik Batha</a:t>
            </a:r>
            <a:endParaRPr lang="en-US" sz="2400" dirty="0"/>
          </a:p>
        </p:txBody>
      </p:sp>
      <p:sp>
        <p:nvSpPr>
          <p:cNvPr id="7" name="Team 1 role"/>
          <p:cNvSpPr txBox="1"/>
          <p:nvPr/>
        </p:nvSpPr>
        <p:spPr>
          <a:xfrm>
            <a:off x="2103120" y="2240280"/>
            <a:ext cx="3566160" cy="365760"/>
          </a:xfrm>
          <a:prstGeom prst="rect">
            <a:avLst/>
          </a:prstGeom>
          <a:noFill/>
          <a:ln/>
        </p:spPr>
        <p:txBody>
          <a:bodyPr wrap="square" lIns="0" tIns="0" rIns="0" bIns="0" rtlCol="0" anchor="t"/>
          <a:lstStyle/>
          <a:p>
            <a:pPr indent="0" marL="0">
              <a:buNone/>
            </a:pPr>
            <a:r>
              <a:rPr lang="en-US" sz="1600" b="1" dirty="0">
                <a:solidFill>
                  <a:schemeClr val="accent1"/>
                </a:solidFill>
              </a:rPr>
              <a:t>Founder &amp; CEO</a:t>
            </a:r>
            <a:endParaRPr lang="en-US" sz="1600" dirty="0"/>
          </a:p>
        </p:txBody>
      </p:sp>
      <p:sp>
        <p:nvSpPr>
          <p:cNvPr id="8" name="Team 1 bullets"/>
          <p:cNvSpPr txBox="1"/>
          <p:nvPr/>
        </p:nvSpPr>
        <p:spPr>
          <a:xfrm>
            <a:off x="868680" y="2971800"/>
            <a:ext cx="475488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Founder of System Memo, with an audience of AI automation builders</a:t>
            </a:r>
            <a:endParaRPr lang="en-US" sz="1500" dirty="0"/>
          </a:p>
          <a:p>
            <a:pPr marL="342900" indent="-342900">
              <a:spcAft>
                <a:spcPts val="600"/>
              </a:spcAft>
              <a:buSzPct val="100000"/>
              <a:buChar char="•"/>
            </a:pPr>
            <a:r>
              <a:rPr lang="en-US" sz="1500" dirty="0">
                <a:solidFill>
                  <a:schemeClr val="tx1"/>
                </a:solidFill>
              </a:rPr>
              <a:t>Partnerships with brands and regular webinars</a:t>
            </a:r>
            <a:endParaRPr lang="en-US" sz="1500" dirty="0"/>
          </a:p>
          <a:p>
            <a:pPr marL="342900" indent="-342900">
              <a:spcAft>
                <a:spcPts val="600"/>
              </a:spcAft>
              <a:buSzPct val="100000"/>
              <a:buChar char="•"/>
            </a:pPr>
            <a:r>
              <a:rPr lang="en-US" sz="1500" dirty="0">
                <a:solidFill>
                  <a:schemeClr val="tx1"/>
                </a:solidFill>
              </a:rPr>
              <a:t>Leads product vision, customers and growth</a:t>
            </a:r>
            <a:endParaRPr lang="en-US" sz="1500" dirty="0"/>
          </a:p>
        </p:txBody>
      </p:sp>
      <p:sp>
        <p:nvSpPr>
          <p:cNvPr id="9" name="Team card 2"/>
          <p:cNvSpPr/>
          <p:nvPr/>
        </p:nvSpPr>
        <p:spPr>
          <a:xfrm>
            <a:off x="6217920" y="1417320"/>
            <a:ext cx="5394960" cy="3520440"/>
          </a:xfrm>
          <a:prstGeom prst="roundRect">
            <a:avLst>
              <a:gd name="adj" fmla="val 3117"/>
            </a:avLst>
          </a:prstGeom>
          <a:solidFill>
            <a:schemeClr val="bg2"/>
          </a:solidFill>
          <a:ln/>
        </p:spPr>
      </p:sp>
      <p:sp>
        <p:nvSpPr>
          <p:cNvPr id="10" name="Team 2 circle"/>
          <p:cNvSpPr/>
          <p:nvPr/>
        </p:nvSpPr>
        <p:spPr>
          <a:xfrm>
            <a:off x="6537960" y="1691640"/>
            <a:ext cx="1005840" cy="1005840"/>
          </a:xfrm>
          <a:prstGeom prst="ellipse">
            <a:avLst/>
          </a:prstGeom>
          <a:solidFill>
            <a:schemeClr val="tx2"/>
          </a:solidFill>
          <a:ln/>
        </p:spPr>
      </p:sp>
      <p:pic>
        <p:nvPicPr>
          <p:cNvPr id="11" name="Team 2 icon" descr="preencoded.png">    </p:cNvPr>
          <p:cNvPicPr>
            <a:picLocks noChangeAspect="1"/>
          </p:cNvPicPr>
          <p:nvPr/>
        </p:nvPicPr>
        <p:blipFill>
          <a:blip r:embed="rId2"/>
          <a:stretch>
            <a:fillRect/>
          </a:stretch>
        </p:blipFill>
        <p:spPr>
          <a:xfrm>
            <a:off x="6809537" y="1963217"/>
            <a:ext cx="462686" cy="462686"/>
          </a:xfrm>
          <a:prstGeom prst="rect">
            <a:avLst/>
          </a:prstGeom>
        </p:spPr>
      </p:pic>
      <p:sp>
        <p:nvSpPr>
          <p:cNvPr id="12" name="Team 2 name"/>
          <p:cNvSpPr txBox="1"/>
          <p:nvPr/>
        </p:nvSpPr>
        <p:spPr>
          <a:xfrm>
            <a:off x="7772400" y="1737360"/>
            <a:ext cx="3566160" cy="457200"/>
          </a:xfrm>
          <a:prstGeom prst="rect">
            <a:avLst/>
          </a:prstGeom>
          <a:noFill/>
          <a:ln/>
        </p:spPr>
        <p:txBody>
          <a:bodyPr wrap="square" lIns="0" tIns="0" rIns="0" bIns="0" rtlCol="0" anchor="t"/>
          <a:lstStyle/>
          <a:p>
            <a:pPr indent="0" marL="0">
              <a:buNone/>
            </a:pPr>
            <a:r>
              <a:rPr lang="en-US" sz="2400" b="1" dirty="0">
                <a:solidFill>
                  <a:schemeClr val="tx2"/>
                </a:solidFill>
              </a:rPr>
              <a:t>Ulises Romano</a:t>
            </a:r>
            <a:endParaRPr lang="en-US" sz="2400" dirty="0"/>
          </a:p>
        </p:txBody>
      </p:sp>
      <p:sp>
        <p:nvSpPr>
          <p:cNvPr id="13" name="Team 2 role"/>
          <p:cNvSpPr txBox="1"/>
          <p:nvPr/>
        </p:nvSpPr>
        <p:spPr>
          <a:xfrm>
            <a:off x="7772400" y="2240280"/>
            <a:ext cx="3566160" cy="365760"/>
          </a:xfrm>
          <a:prstGeom prst="rect">
            <a:avLst/>
          </a:prstGeom>
          <a:noFill/>
          <a:ln/>
        </p:spPr>
        <p:txBody>
          <a:bodyPr wrap="square" lIns="0" tIns="0" rIns="0" bIns="0" rtlCol="0" anchor="t"/>
          <a:lstStyle/>
          <a:p>
            <a:pPr indent="0" marL="0">
              <a:buNone/>
            </a:pPr>
            <a:r>
              <a:rPr lang="en-US" sz="1600" b="1" dirty="0">
                <a:solidFill>
                  <a:schemeClr val="accent1"/>
                </a:solidFill>
              </a:rPr>
              <a:t>Lead Software Developer</a:t>
            </a:r>
            <a:endParaRPr lang="en-US" sz="1600" dirty="0"/>
          </a:p>
        </p:txBody>
      </p:sp>
      <p:sp>
        <p:nvSpPr>
          <p:cNvPr id="14" name="Team 2 bullets"/>
          <p:cNvSpPr txBox="1"/>
          <p:nvPr/>
        </p:nvSpPr>
        <p:spPr>
          <a:xfrm>
            <a:off x="6537960" y="2971800"/>
            <a:ext cx="475488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Has delivered production AI agents and AI automation systems for companies</a:t>
            </a:r>
            <a:endParaRPr lang="en-US" sz="1500" dirty="0"/>
          </a:p>
          <a:p>
            <a:pPr marL="342900" indent="-342900">
              <a:spcAft>
                <a:spcPts val="600"/>
              </a:spcAft>
              <a:buSzPct val="100000"/>
              <a:buChar char="•"/>
            </a:pPr>
            <a:r>
              <a:rPr lang="en-US" sz="1500" dirty="0">
                <a:solidFill>
                  <a:schemeClr val="tx1"/>
                </a:solidFill>
              </a:rPr>
              <a:t>Built an AI-powered email outreach platform</a:t>
            </a:r>
            <a:endParaRPr lang="en-US" sz="1500" dirty="0"/>
          </a:p>
          <a:p>
            <a:pPr marL="342900" indent="-342900">
              <a:spcAft>
                <a:spcPts val="600"/>
              </a:spcAft>
              <a:buSzPct val="100000"/>
              <a:buChar char="•"/>
            </a:pPr>
            <a:r>
              <a:rPr lang="en-US" sz="1500" dirty="0">
                <a:solidFill>
                  <a:schemeClr val="tx1"/>
                </a:solidFill>
              </a:rPr>
              <a:t>Leads architecture, security and engineering</a:t>
            </a:r>
            <a:endParaRPr lang="en-US" sz="1500" dirty="0"/>
          </a:p>
        </p:txBody>
      </p:sp>
      <p:sp>
        <p:nvSpPr>
          <p:cNvPr id="15" name="Team extended card"/>
          <p:cNvSpPr/>
          <p:nvPr/>
        </p:nvSpPr>
        <p:spPr>
          <a:xfrm>
            <a:off x="548640" y="5212080"/>
            <a:ext cx="11064240" cy="731520"/>
          </a:xfrm>
          <a:prstGeom prst="roundRect">
            <a:avLst>
              <a:gd name="adj" fmla="val 15000"/>
            </a:avLst>
          </a:prstGeom>
          <a:solidFill>
            <a:schemeClr val="accent6"/>
          </a:solidFill>
          <a:ln/>
        </p:spPr>
      </p:sp>
      <p:sp>
        <p:nvSpPr>
          <p:cNvPr id="16" name="Team extended text"/>
          <p:cNvSpPr txBox="1"/>
          <p:nvPr/>
        </p:nvSpPr>
        <p:spPr>
          <a:xfrm>
            <a:off x="822960" y="5212080"/>
            <a:ext cx="10515600" cy="731520"/>
          </a:xfrm>
          <a:prstGeom prst="rect">
            <a:avLst/>
          </a:prstGeom>
          <a:noFill/>
          <a:ln/>
        </p:spPr>
        <p:txBody>
          <a:bodyPr wrap="square" lIns="0" tIns="0" rIns="0" bIns="0" rtlCol="0" anchor="ctr"/>
          <a:lstStyle/>
          <a:p>
            <a:pPr indent="0" marL="0">
              <a:buNone/>
            </a:pPr>
            <a:r>
              <a:rPr lang="en-US" sz="1500" b="1" dirty="0">
                <a:solidFill>
                  <a:schemeClr val="tx2"/>
                </a:solidFill>
              </a:rPr>
              <a:t>Also on the team: </a:t>
            </a:r>
            <a:pPr indent="0" marL="0">
              <a:buNone/>
            </a:pPr>
            <a:r>
              <a:rPr lang="en-US" sz="1500" dirty="0">
                <a:solidFill>
                  <a:schemeClr val="tx1"/>
                </a:solidFill>
              </a:rPr>
              <a:t>UI/UX designer.  </a:t>
            </a:r>
            <a:pPr indent="0" marL="0">
              <a:buNone/>
            </a:pPr>
            <a:r>
              <a:rPr lang="en-US" sz="1500" b="1" dirty="0">
                <a:solidFill>
                  <a:schemeClr val="tx2"/>
                </a:solidFill>
              </a:rPr>
              <a:t>Hiring next: </a:t>
            </a:r>
            <a:pPr indent="0" marL="0">
              <a:buNone/>
            </a:pPr>
            <a:r>
              <a:rPr lang="en-US" sz="1500" dirty="0">
                <a:solidFill>
                  <a:schemeClr val="tx1"/>
                </a:solidFill>
              </a:rPr>
              <a:t>backend &amp; integrations developer.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The ask</a:t>
            </a:r>
            <a:endParaRPr lang="en-US" sz="3200" dirty="0"/>
          </a:p>
        </p:txBody>
      </p:sp>
      <p:sp>
        <p:nvSpPr>
          <p:cNvPr id="3" name="Ask card"/>
          <p:cNvSpPr/>
          <p:nvPr/>
        </p:nvSpPr>
        <p:spPr>
          <a:xfrm>
            <a:off x="548640" y="1417320"/>
            <a:ext cx="4754880" cy="4480560"/>
          </a:xfrm>
          <a:prstGeom prst="roundRect">
            <a:avLst>
              <a:gd name="adj" fmla="val 2449"/>
            </a:avLst>
          </a:prstGeom>
          <a:solidFill>
            <a:schemeClr val="tx2"/>
          </a:solidFill>
          <a:ln/>
        </p:spPr>
      </p:sp>
      <p:sp>
        <p:nvSpPr>
          <p:cNvPr id="4" name="Ask label"/>
          <p:cNvSpPr txBox="1"/>
          <p:nvPr/>
        </p:nvSpPr>
        <p:spPr>
          <a:xfrm>
            <a:off x="868680" y="1691640"/>
            <a:ext cx="4114800" cy="411480"/>
          </a:xfrm>
          <a:prstGeom prst="rect">
            <a:avLst/>
          </a:prstGeom>
          <a:noFill/>
          <a:ln/>
        </p:spPr>
        <p:txBody>
          <a:bodyPr wrap="square" lIns="0" tIns="0" rIns="0" bIns="0" rtlCol="0" anchor="t"/>
          <a:lstStyle/>
          <a:p>
            <a:pPr indent="0" marL="0">
              <a:buNone/>
            </a:pPr>
            <a:r>
              <a:rPr lang="en-US" sz="1800" dirty="0">
                <a:solidFill>
                  <a:schemeClr val="accent6"/>
                </a:solidFill>
              </a:rPr>
              <a:t>We are raising</a:t>
            </a:r>
            <a:endParaRPr lang="en-US" sz="1800" dirty="0"/>
          </a:p>
        </p:txBody>
      </p:sp>
      <p:sp>
        <p:nvSpPr>
          <p:cNvPr id="5" name="Ask amount"/>
          <p:cNvSpPr/>
          <p:nvPr/>
        </p:nvSpPr>
        <p:spPr>
          <a:xfrm>
            <a:off x="868680" y="2240280"/>
            <a:ext cx="4114800" cy="1005840"/>
          </a:xfrm>
          <a:prstGeom prst="roundRect">
            <a:avLst>
              <a:gd name="adj" fmla="val 7273"/>
            </a:avLst>
          </a:prstGeom>
          <a:solidFill>
            <a:srgbClr val="FFF3DD"/>
          </a:solidFill>
          <a:ln w="15875">
            <a:solidFill>
              <a:srgbClr val="E8930C"/>
            </a:solidFill>
            <a:prstDash val="dash"/>
          </a:ln>
        </p:spPr>
      </p:sp>
      <p:sp>
        <p:nvSpPr>
          <p:cNvPr id="6" name="Ask amount text"/>
          <p:cNvSpPr txBox="1"/>
          <p:nvPr/>
        </p:nvSpPr>
        <p:spPr>
          <a:xfrm>
            <a:off x="1005840" y="2240280"/>
            <a:ext cx="3840480" cy="1005840"/>
          </a:xfrm>
          <a:prstGeom prst="rect">
            <a:avLst/>
          </a:prstGeom>
          <a:noFill/>
          <a:ln/>
        </p:spPr>
        <p:txBody>
          <a:bodyPr wrap="square" lIns="0" tIns="0" rIns="0" bIns="0" rtlCol="0" anchor="ctr"/>
          <a:lstStyle/>
          <a:p>
            <a:pPr algn="ctr" indent="0" marL="0">
              <a:buNone/>
            </a:pPr>
            <a:r>
              <a:rPr lang="en-US" sz="2800" b="1" dirty="0">
                <a:solidFill>
                  <a:schemeClr val="accent2"/>
                </a:solidFill>
              </a:rPr>
              <a:t>[To add: $ amount]</a:t>
            </a:r>
            <a:endParaRPr lang="en-US" sz="2800" dirty="0"/>
          </a:p>
        </p:txBody>
      </p:sp>
      <p:sp>
        <p:nvSpPr>
          <p:cNvPr id="7" name="Ask purpose"/>
          <p:cNvSpPr txBox="1"/>
          <p:nvPr/>
        </p:nvSpPr>
        <p:spPr>
          <a:xfrm>
            <a:off x="868680" y="3474720"/>
            <a:ext cx="4114800" cy="914400"/>
          </a:xfrm>
          <a:prstGeom prst="rect">
            <a:avLst/>
          </a:prstGeom>
          <a:noFill/>
          <a:ln/>
        </p:spPr>
        <p:txBody>
          <a:bodyPr wrap="square" lIns="0" tIns="0" rIns="0" bIns="0" rtlCol="0" anchor="t"/>
          <a:lstStyle/>
          <a:p>
            <a:pPr indent="0" marL="0">
              <a:buNone/>
            </a:pPr>
            <a:r>
              <a:rPr lang="en-US" sz="1600" dirty="0">
                <a:solidFill>
                  <a:schemeClr val="bg1"/>
                </a:solidFill>
              </a:rPr>
              <a:t>to reach public launch and our first paying customers in about 30 weeks.</a:t>
            </a:r>
            <a:endParaRPr lang="en-US" sz="1600" dirty="0"/>
          </a:p>
        </p:txBody>
      </p:sp>
      <p:sp>
        <p:nvSpPr>
          <p:cNvPr id="8" name="Terms label"/>
          <p:cNvSpPr txBox="1"/>
          <p:nvPr/>
        </p:nvSpPr>
        <p:spPr>
          <a:xfrm>
            <a:off x="868680" y="4480560"/>
            <a:ext cx="4114800" cy="320040"/>
          </a:xfrm>
          <a:prstGeom prst="rect">
            <a:avLst/>
          </a:prstGeom>
          <a:noFill/>
          <a:ln/>
        </p:spPr>
        <p:txBody>
          <a:bodyPr wrap="square" lIns="0" tIns="0" rIns="0" bIns="0" rtlCol="0" anchor="t"/>
          <a:lstStyle/>
          <a:p>
            <a:pPr indent="0" marL="0">
              <a:buNone/>
            </a:pPr>
            <a:r>
              <a:rPr lang="en-US" sz="1400" b="1" dirty="0">
                <a:solidFill>
                  <a:schemeClr val="accent6"/>
                </a:solidFill>
              </a:rPr>
              <a:t>Funding type and terms:</a:t>
            </a:r>
            <a:endParaRPr lang="en-US" sz="1400" dirty="0"/>
          </a:p>
        </p:txBody>
      </p:sp>
      <p:sp>
        <p:nvSpPr>
          <p:cNvPr id="9" name="Ask terms"/>
          <p:cNvSpPr/>
          <p:nvPr/>
        </p:nvSpPr>
        <p:spPr>
          <a:xfrm>
            <a:off x="868680" y="4846320"/>
            <a:ext cx="4114800" cy="685800"/>
          </a:xfrm>
          <a:prstGeom prst="roundRect">
            <a:avLst>
              <a:gd name="adj" fmla="val 10667"/>
            </a:avLst>
          </a:prstGeom>
          <a:solidFill>
            <a:srgbClr val="FFF3DD"/>
          </a:solidFill>
          <a:ln w="15875">
            <a:solidFill>
              <a:srgbClr val="E8930C"/>
            </a:solidFill>
            <a:prstDash val="dash"/>
          </a:ln>
        </p:spPr>
      </p:sp>
      <p:sp>
        <p:nvSpPr>
          <p:cNvPr id="10" name="Ask terms text"/>
          <p:cNvSpPr txBox="1"/>
          <p:nvPr/>
        </p:nvSpPr>
        <p:spPr>
          <a:xfrm>
            <a:off x="1005840" y="4846320"/>
            <a:ext cx="3840480" cy="685800"/>
          </a:xfrm>
          <a:prstGeom prst="rect">
            <a:avLst/>
          </a:prstGeom>
          <a:noFill/>
          <a:ln/>
        </p:spPr>
        <p:txBody>
          <a:bodyPr wrap="square" lIns="0" tIns="0" rIns="0" bIns="0" rtlCol="0" anchor="ctr"/>
          <a:lstStyle/>
          <a:p>
            <a:pPr algn="ctr" indent="0" marL="0">
              <a:buNone/>
            </a:pPr>
            <a:r>
              <a:rPr lang="en-US" sz="1400" b="1" dirty="0">
                <a:solidFill>
                  <a:schemeClr val="accent2"/>
                </a:solidFill>
              </a:rPr>
              <a:t>[To add: e.g. pre-seed, terms]</a:t>
            </a:r>
            <a:endParaRPr lang="en-US" sz="1400" dirty="0"/>
          </a:p>
        </p:txBody>
      </p:sp>
      <p:sp>
        <p:nvSpPr>
          <p:cNvPr id="11" name="Funds title"/>
          <p:cNvSpPr txBox="1"/>
          <p:nvPr/>
        </p:nvSpPr>
        <p:spPr>
          <a:xfrm>
            <a:off x="5669280" y="1417320"/>
            <a:ext cx="5943600" cy="411480"/>
          </a:xfrm>
          <a:prstGeom prst="rect">
            <a:avLst/>
          </a:prstGeom>
          <a:noFill/>
          <a:ln/>
        </p:spPr>
        <p:txBody>
          <a:bodyPr wrap="square" lIns="0" tIns="0" rIns="0" bIns="0" rtlCol="0" anchor="t"/>
          <a:lstStyle/>
          <a:p>
            <a:pPr indent="0" marL="0">
              <a:buNone/>
            </a:pPr>
            <a:r>
              <a:rPr lang="en-US" sz="2000" b="1" dirty="0">
                <a:solidFill>
                  <a:schemeClr val="tx2"/>
                </a:solidFill>
              </a:rPr>
              <a:t>Use of funds</a:t>
            </a:r>
            <a:endParaRPr lang="en-US" sz="2000" dirty="0"/>
          </a:p>
        </p:txBody>
      </p:sp>
      <p:sp>
        <p:nvSpPr>
          <p:cNvPr id="12" name="Fund 1 circle"/>
          <p:cNvSpPr/>
          <p:nvPr/>
        </p:nvSpPr>
        <p:spPr>
          <a:xfrm>
            <a:off x="5669280" y="1920240"/>
            <a:ext cx="502920" cy="502920"/>
          </a:xfrm>
          <a:prstGeom prst="ellipse">
            <a:avLst/>
          </a:prstGeom>
          <a:solidFill>
            <a:schemeClr val="accent1"/>
          </a:solidFill>
          <a:ln/>
        </p:spPr>
      </p:sp>
      <p:pic>
        <p:nvPicPr>
          <p:cNvPr id="13" name="Fund 1 icon" descr="preencoded.png">    </p:cNvPr>
          <p:cNvPicPr>
            <a:picLocks noChangeAspect="1"/>
          </p:cNvPicPr>
          <p:nvPr/>
        </p:nvPicPr>
        <p:blipFill>
          <a:blip r:embed="rId1"/>
          <a:stretch>
            <a:fillRect/>
          </a:stretch>
        </p:blipFill>
        <p:spPr>
          <a:xfrm>
            <a:off x="5805068" y="2056028"/>
            <a:ext cx="231343" cy="231343"/>
          </a:xfrm>
          <a:prstGeom prst="rect">
            <a:avLst/>
          </a:prstGeom>
        </p:spPr>
      </p:pic>
      <p:sp>
        <p:nvSpPr>
          <p:cNvPr id="14" name="Fund 1 label"/>
          <p:cNvSpPr txBox="1"/>
          <p:nvPr/>
        </p:nvSpPr>
        <p:spPr>
          <a:xfrm>
            <a:off x="6355080" y="1920240"/>
            <a:ext cx="3566160" cy="502920"/>
          </a:xfrm>
          <a:prstGeom prst="rect">
            <a:avLst/>
          </a:prstGeom>
          <a:noFill/>
          <a:ln/>
        </p:spPr>
        <p:txBody>
          <a:bodyPr wrap="square" lIns="0" tIns="0" rIns="0" bIns="0" rtlCol="0" anchor="ctr"/>
          <a:lstStyle/>
          <a:p>
            <a:pPr indent="0" marL="0">
              <a:buNone/>
            </a:pPr>
            <a:r>
              <a:rPr lang="en-US" sz="1500" b="1" dirty="0">
                <a:solidFill>
                  <a:schemeClr val="tx2"/>
                </a:solidFill>
              </a:rPr>
              <a:t>Product &amp; engineering</a:t>
            </a:r>
            <a:endParaRPr lang="en-US" sz="1500" dirty="0"/>
          </a:p>
        </p:txBody>
      </p:sp>
      <p:sp>
        <p:nvSpPr>
          <p:cNvPr id="15" name="Fund 1 share"/>
          <p:cNvSpPr/>
          <p:nvPr/>
        </p:nvSpPr>
        <p:spPr>
          <a:xfrm>
            <a:off x="10058400" y="1965960"/>
            <a:ext cx="1554480" cy="411480"/>
          </a:xfrm>
          <a:prstGeom prst="roundRect">
            <a:avLst>
              <a:gd name="adj" fmla="val 17778"/>
            </a:avLst>
          </a:prstGeom>
          <a:solidFill>
            <a:srgbClr val="FFF3DD"/>
          </a:solidFill>
          <a:ln w="15875">
            <a:solidFill>
              <a:srgbClr val="E8930C"/>
            </a:solidFill>
            <a:prstDash val="dash"/>
          </a:ln>
        </p:spPr>
      </p:sp>
      <p:sp>
        <p:nvSpPr>
          <p:cNvPr id="16" name="Fund 1 share text"/>
          <p:cNvSpPr txBox="1"/>
          <p:nvPr/>
        </p:nvSpPr>
        <p:spPr>
          <a:xfrm>
            <a:off x="10195560" y="1965960"/>
            <a:ext cx="1280160" cy="411480"/>
          </a:xfrm>
          <a:prstGeom prst="rect">
            <a:avLst/>
          </a:prstGeom>
          <a:noFill/>
          <a:ln/>
        </p:spPr>
        <p:txBody>
          <a:bodyPr wrap="square" lIns="0" tIns="0" rIns="0" bIns="0" rtlCol="0" anchor="ctr"/>
          <a:lstStyle/>
          <a:p>
            <a:pPr algn="ctr" indent="0" marL="0">
              <a:buNone/>
            </a:pPr>
            <a:r>
              <a:rPr lang="en-US" sz="1300" b="1" dirty="0">
                <a:solidFill>
                  <a:schemeClr val="accent2"/>
                </a:solidFill>
              </a:rPr>
              <a:t>[__ %]</a:t>
            </a:r>
            <a:endParaRPr lang="en-US" sz="1300" dirty="0"/>
          </a:p>
        </p:txBody>
      </p:sp>
      <p:sp>
        <p:nvSpPr>
          <p:cNvPr id="17" name="Fund 2 circle"/>
          <p:cNvSpPr/>
          <p:nvPr/>
        </p:nvSpPr>
        <p:spPr>
          <a:xfrm>
            <a:off x="5669280" y="2542032"/>
            <a:ext cx="502920" cy="502920"/>
          </a:xfrm>
          <a:prstGeom prst="ellipse">
            <a:avLst/>
          </a:prstGeom>
          <a:solidFill>
            <a:schemeClr val="accent1"/>
          </a:solidFill>
          <a:ln/>
        </p:spPr>
      </p:sp>
      <p:pic>
        <p:nvPicPr>
          <p:cNvPr id="18" name="Fund 2 icon" descr="preencoded.png">    </p:cNvPr>
          <p:cNvPicPr>
            <a:picLocks noChangeAspect="1"/>
          </p:cNvPicPr>
          <p:nvPr/>
        </p:nvPicPr>
        <p:blipFill>
          <a:blip r:embed="rId2"/>
          <a:stretch>
            <a:fillRect/>
          </a:stretch>
        </p:blipFill>
        <p:spPr>
          <a:xfrm>
            <a:off x="5805068" y="2677820"/>
            <a:ext cx="231343" cy="231343"/>
          </a:xfrm>
          <a:prstGeom prst="rect">
            <a:avLst/>
          </a:prstGeom>
        </p:spPr>
      </p:pic>
      <p:sp>
        <p:nvSpPr>
          <p:cNvPr id="19" name="Fund 2 label"/>
          <p:cNvSpPr txBox="1"/>
          <p:nvPr/>
        </p:nvSpPr>
        <p:spPr>
          <a:xfrm>
            <a:off x="6355080" y="2542032"/>
            <a:ext cx="3566160" cy="502920"/>
          </a:xfrm>
          <a:prstGeom prst="rect">
            <a:avLst/>
          </a:prstGeom>
          <a:noFill/>
          <a:ln/>
        </p:spPr>
        <p:txBody>
          <a:bodyPr wrap="square" lIns="0" tIns="0" rIns="0" bIns="0" rtlCol="0" anchor="ctr"/>
          <a:lstStyle/>
          <a:p>
            <a:pPr indent="0" marL="0">
              <a:buNone/>
            </a:pPr>
            <a:r>
              <a:rPr lang="en-US" sz="1500" b="1" dirty="0">
                <a:solidFill>
                  <a:schemeClr val="tx2"/>
                </a:solidFill>
              </a:rPr>
              <a:t>Security &amp; compliance</a:t>
            </a:r>
            <a:endParaRPr lang="en-US" sz="1500" dirty="0"/>
          </a:p>
        </p:txBody>
      </p:sp>
      <p:sp>
        <p:nvSpPr>
          <p:cNvPr id="20" name="Fund 2 share"/>
          <p:cNvSpPr/>
          <p:nvPr/>
        </p:nvSpPr>
        <p:spPr>
          <a:xfrm>
            <a:off x="10058400" y="2587752"/>
            <a:ext cx="1554480" cy="411480"/>
          </a:xfrm>
          <a:prstGeom prst="roundRect">
            <a:avLst>
              <a:gd name="adj" fmla="val 17778"/>
            </a:avLst>
          </a:prstGeom>
          <a:solidFill>
            <a:srgbClr val="FFF3DD"/>
          </a:solidFill>
          <a:ln w="15875">
            <a:solidFill>
              <a:srgbClr val="E8930C"/>
            </a:solidFill>
            <a:prstDash val="dash"/>
          </a:ln>
        </p:spPr>
      </p:sp>
      <p:sp>
        <p:nvSpPr>
          <p:cNvPr id="21" name="Fund 2 share text"/>
          <p:cNvSpPr txBox="1"/>
          <p:nvPr/>
        </p:nvSpPr>
        <p:spPr>
          <a:xfrm>
            <a:off x="10195560" y="2587752"/>
            <a:ext cx="1280160" cy="411480"/>
          </a:xfrm>
          <a:prstGeom prst="rect">
            <a:avLst/>
          </a:prstGeom>
          <a:noFill/>
          <a:ln/>
        </p:spPr>
        <p:txBody>
          <a:bodyPr wrap="square" lIns="0" tIns="0" rIns="0" bIns="0" rtlCol="0" anchor="ctr"/>
          <a:lstStyle/>
          <a:p>
            <a:pPr algn="ctr" indent="0" marL="0">
              <a:buNone/>
            </a:pPr>
            <a:r>
              <a:rPr lang="en-US" sz="1300" b="1" dirty="0">
                <a:solidFill>
                  <a:schemeClr val="accent2"/>
                </a:solidFill>
              </a:rPr>
              <a:t>[__ %]</a:t>
            </a:r>
            <a:endParaRPr lang="en-US" sz="1300" dirty="0"/>
          </a:p>
        </p:txBody>
      </p:sp>
      <p:sp>
        <p:nvSpPr>
          <p:cNvPr id="22" name="Fund 3 circle"/>
          <p:cNvSpPr/>
          <p:nvPr/>
        </p:nvSpPr>
        <p:spPr>
          <a:xfrm>
            <a:off x="5669280" y="3163824"/>
            <a:ext cx="502920" cy="502920"/>
          </a:xfrm>
          <a:prstGeom prst="ellipse">
            <a:avLst/>
          </a:prstGeom>
          <a:solidFill>
            <a:schemeClr val="accent1"/>
          </a:solidFill>
          <a:ln/>
        </p:spPr>
      </p:sp>
      <p:pic>
        <p:nvPicPr>
          <p:cNvPr id="23" name="Fund 3 icon" descr="preencoded.png">    </p:cNvPr>
          <p:cNvPicPr>
            <a:picLocks noChangeAspect="1"/>
          </p:cNvPicPr>
          <p:nvPr/>
        </p:nvPicPr>
        <p:blipFill>
          <a:blip r:embed="rId3"/>
          <a:stretch>
            <a:fillRect/>
          </a:stretch>
        </p:blipFill>
        <p:spPr>
          <a:xfrm>
            <a:off x="5805068" y="3299612"/>
            <a:ext cx="231343" cy="231343"/>
          </a:xfrm>
          <a:prstGeom prst="rect">
            <a:avLst/>
          </a:prstGeom>
        </p:spPr>
      </p:pic>
      <p:sp>
        <p:nvSpPr>
          <p:cNvPr id="24" name="Fund 3 label"/>
          <p:cNvSpPr txBox="1"/>
          <p:nvPr/>
        </p:nvSpPr>
        <p:spPr>
          <a:xfrm>
            <a:off x="6355080" y="3163824"/>
            <a:ext cx="3566160" cy="502920"/>
          </a:xfrm>
          <a:prstGeom prst="rect">
            <a:avLst/>
          </a:prstGeom>
          <a:noFill/>
          <a:ln/>
        </p:spPr>
        <p:txBody>
          <a:bodyPr wrap="square" lIns="0" tIns="0" rIns="0" bIns="0" rtlCol="0" anchor="ctr"/>
          <a:lstStyle/>
          <a:p>
            <a:pPr indent="0" marL="0">
              <a:buNone/>
            </a:pPr>
            <a:r>
              <a:rPr lang="en-US" sz="1500" b="1" dirty="0">
                <a:solidFill>
                  <a:schemeClr val="tx2"/>
                </a:solidFill>
              </a:rPr>
              <a:t>Go-to-market &amp; community</a:t>
            </a:r>
            <a:endParaRPr lang="en-US" sz="1500" dirty="0"/>
          </a:p>
        </p:txBody>
      </p:sp>
      <p:sp>
        <p:nvSpPr>
          <p:cNvPr id="25" name="Fund 3 share"/>
          <p:cNvSpPr/>
          <p:nvPr/>
        </p:nvSpPr>
        <p:spPr>
          <a:xfrm>
            <a:off x="10058400" y="3209544"/>
            <a:ext cx="1554480" cy="411480"/>
          </a:xfrm>
          <a:prstGeom prst="roundRect">
            <a:avLst>
              <a:gd name="adj" fmla="val 17778"/>
            </a:avLst>
          </a:prstGeom>
          <a:solidFill>
            <a:srgbClr val="FFF3DD"/>
          </a:solidFill>
          <a:ln w="15875">
            <a:solidFill>
              <a:srgbClr val="E8930C"/>
            </a:solidFill>
            <a:prstDash val="dash"/>
          </a:ln>
        </p:spPr>
      </p:sp>
      <p:sp>
        <p:nvSpPr>
          <p:cNvPr id="26" name="Fund 3 share text"/>
          <p:cNvSpPr txBox="1"/>
          <p:nvPr/>
        </p:nvSpPr>
        <p:spPr>
          <a:xfrm>
            <a:off x="10195560" y="3209544"/>
            <a:ext cx="1280160" cy="411480"/>
          </a:xfrm>
          <a:prstGeom prst="rect">
            <a:avLst/>
          </a:prstGeom>
          <a:noFill/>
          <a:ln/>
        </p:spPr>
        <p:txBody>
          <a:bodyPr wrap="square" lIns="0" tIns="0" rIns="0" bIns="0" rtlCol="0" anchor="ctr"/>
          <a:lstStyle/>
          <a:p>
            <a:pPr algn="ctr" indent="0" marL="0">
              <a:buNone/>
            </a:pPr>
            <a:r>
              <a:rPr lang="en-US" sz="1300" b="1" dirty="0">
                <a:solidFill>
                  <a:schemeClr val="accent2"/>
                </a:solidFill>
              </a:rPr>
              <a:t>[__ %]</a:t>
            </a:r>
            <a:endParaRPr lang="en-US" sz="1300" dirty="0"/>
          </a:p>
        </p:txBody>
      </p:sp>
      <p:sp>
        <p:nvSpPr>
          <p:cNvPr id="27" name="Fund 4 circle"/>
          <p:cNvSpPr/>
          <p:nvPr/>
        </p:nvSpPr>
        <p:spPr>
          <a:xfrm>
            <a:off x="5669280" y="3785616"/>
            <a:ext cx="502920" cy="502920"/>
          </a:xfrm>
          <a:prstGeom prst="ellipse">
            <a:avLst/>
          </a:prstGeom>
          <a:solidFill>
            <a:schemeClr val="accent1"/>
          </a:solidFill>
          <a:ln/>
        </p:spPr>
      </p:sp>
      <p:pic>
        <p:nvPicPr>
          <p:cNvPr id="28" name="Fund 4 icon" descr="preencoded.png">    </p:cNvPr>
          <p:cNvPicPr>
            <a:picLocks noChangeAspect="1"/>
          </p:cNvPicPr>
          <p:nvPr/>
        </p:nvPicPr>
        <p:blipFill>
          <a:blip r:embed="rId4"/>
          <a:stretch>
            <a:fillRect/>
          </a:stretch>
        </p:blipFill>
        <p:spPr>
          <a:xfrm>
            <a:off x="5805068" y="3921404"/>
            <a:ext cx="231343" cy="231343"/>
          </a:xfrm>
          <a:prstGeom prst="rect">
            <a:avLst/>
          </a:prstGeom>
        </p:spPr>
      </p:pic>
      <p:sp>
        <p:nvSpPr>
          <p:cNvPr id="29" name="Fund 4 label"/>
          <p:cNvSpPr txBox="1"/>
          <p:nvPr/>
        </p:nvSpPr>
        <p:spPr>
          <a:xfrm>
            <a:off x="6355080" y="3785616"/>
            <a:ext cx="3566160" cy="502920"/>
          </a:xfrm>
          <a:prstGeom prst="rect">
            <a:avLst/>
          </a:prstGeom>
          <a:noFill/>
          <a:ln/>
        </p:spPr>
        <p:txBody>
          <a:bodyPr wrap="square" lIns="0" tIns="0" rIns="0" bIns="0" rtlCol="0" anchor="ctr"/>
          <a:lstStyle/>
          <a:p>
            <a:pPr indent="0" marL="0">
              <a:buNone/>
            </a:pPr>
            <a:r>
              <a:rPr lang="en-US" sz="1500" b="1" dirty="0">
                <a:solidFill>
                  <a:schemeClr val="tx2"/>
                </a:solidFill>
              </a:rPr>
              <a:t>Infrastructure &amp; operations</a:t>
            </a:r>
            <a:endParaRPr lang="en-US" sz="1500" dirty="0"/>
          </a:p>
        </p:txBody>
      </p:sp>
      <p:sp>
        <p:nvSpPr>
          <p:cNvPr id="30" name="Fund 4 share"/>
          <p:cNvSpPr/>
          <p:nvPr/>
        </p:nvSpPr>
        <p:spPr>
          <a:xfrm>
            <a:off x="10058400" y="3831336"/>
            <a:ext cx="1554480" cy="411480"/>
          </a:xfrm>
          <a:prstGeom prst="roundRect">
            <a:avLst>
              <a:gd name="adj" fmla="val 17778"/>
            </a:avLst>
          </a:prstGeom>
          <a:solidFill>
            <a:srgbClr val="FFF3DD"/>
          </a:solidFill>
          <a:ln w="15875">
            <a:solidFill>
              <a:srgbClr val="E8930C"/>
            </a:solidFill>
            <a:prstDash val="dash"/>
          </a:ln>
        </p:spPr>
      </p:sp>
      <p:sp>
        <p:nvSpPr>
          <p:cNvPr id="31" name="Fund 4 share text"/>
          <p:cNvSpPr txBox="1"/>
          <p:nvPr/>
        </p:nvSpPr>
        <p:spPr>
          <a:xfrm>
            <a:off x="10195560" y="3831336"/>
            <a:ext cx="1280160" cy="411480"/>
          </a:xfrm>
          <a:prstGeom prst="rect">
            <a:avLst/>
          </a:prstGeom>
          <a:noFill/>
          <a:ln/>
        </p:spPr>
        <p:txBody>
          <a:bodyPr wrap="square" lIns="0" tIns="0" rIns="0" bIns="0" rtlCol="0" anchor="ctr"/>
          <a:lstStyle/>
          <a:p>
            <a:pPr algn="ctr" indent="0" marL="0">
              <a:buNone/>
            </a:pPr>
            <a:r>
              <a:rPr lang="en-US" sz="1300" b="1" dirty="0">
                <a:solidFill>
                  <a:schemeClr val="accent2"/>
                </a:solidFill>
              </a:rPr>
              <a:t>[__ %]</a:t>
            </a:r>
            <a:endParaRPr lang="en-US" sz="1300" dirty="0"/>
          </a:p>
        </p:txBody>
      </p:sp>
      <p:sp>
        <p:nvSpPr>
          <p:cNvPr id="32" name="Milestones title"/>
          <p:cNvSpPr txBox="1"/>
          <p:nvPr/>
        </p:nvSpPr>
        <p:spPr>
          <a:xfrm>
            <a:off x="5669280" y="4526280"/>
            <a:ext cx="5943600" cy="365760"/>
          </a:xfrm>
          <a:prstGeom prst="rect">
            <a:avLst/>
          </a:prstGeom>
          <a:noFill/>
          <a:ln/>
        </p:spPr>
        <p:txBody>
          <a:bodyPr wrap="square" lIns="0" tIns="0" rIns="0" bIns="0" rtlCol="0" anchor="t"/>
          <a:lstStyle/>
          <a:p>
            <a:pPr indent="0" marL="0">
              <a:buNone/>
            </a:pPr>
            <a:r>
              <a:rPr lang="en-US" sz="1700" b="1" dirty="0">
                <a:solidFill>
                  <a:schemeClr val="tx2"/>
                </a:solidFill>
              </a:rPr>
              <a:t>Milestones this funding reaches</a:t>
            </a:r>
            <a:endParaRPr lang="en-US" sz="1700" dirty="0"/>
          </a:p>
        </p:txBody>
      </p:sp>
      <p:sp>
        <p:nvSpPr>
          <p:cNvPr id="33" name="Milestones list"/>
          <p:cNvSpPr txBox="1"/>
          <p:nvPr/>
        </p:nvSpPr>
        <p:spPr>
          <a:xfrm>
            <a:off x="5669280" y="4937760"/>
            <a:ext cx="5943600" cy="10058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Private beta with 10–20 design partners</a:t>
            </a:r>
            <a:endParaRPr lang="en-US" sz="1500" dirty="0"/>
          </a:p>
          <a:p>
            <a:pPr marL="342900" indent="-342900">
              <a:spcAft>
                <a:spcPts val="400"/>
              </a:spcAft>
              <a:buSzPct val="100000"/>
              <a:buChar char="•"/>
            </a:pPr>
            <a:r>
              <a:rPr lang="en-US" sz="1500" dirty="0">
                <a:solidFill>
                  <a:schemeClr val="tx1"/>
                </a:solidFill>
              </a:rPr>
              <a:t>Credential vault with Stripe, Slack and HubSpot</a:t>
            </a:r>
            <a:endParaRPr lang="en-US" sz="1500" dirty="0"/>
          </a:p>
          <a:p>
            <a:pPr marL="342900" indent="-342900">
              <a:spcAft>
                <a:spcPts val="400"/>
              </a:spcAft>
              <a:buSzPct val="100000"/>
              <a:buChar char="•"/>
            </a:pPr>
            <a:r>
              <a:rPr lang="en-US" sz="1500" dirty="0">
                <a:solidFill>
                  <a:schemeClr val="tx1"/>
                </a:solidFill>
              </a:rPr>
              <a:t>Public launch and first paying customers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losing logo badge circle"/>
          <p:cNvSpPr/>
          <p:nvPr/>
        </p:nvSpPr>
        <p:spPr>
          <a:xfrm>
            <a:off x="731520" y="914400"/>
            <a:ext cx="914400" cy="914400"/>
          </a:xfrm>
          <a:prstGeom prst="ellipse">
            <a:avLst/>
          </a:prstGeom>
          <a:solidFill>
            <a:schemeClr val="accent1"/>
          </a:solidFill>
          <a:ln/>
        </p:spPr>
      </p:sp>
      <p:pic>
        <p:nvPicPr>
          <p:cNvPr id="3" name="Closing logo badge icon" descr="preencoded.png">    </p:cNvPr>
          <p:cNvPicPr>
            <a:picLocks noChangeAspect="1"/>
          </p:cNvPicPr>
          <p:nvPr/>
        </p:nvPicPr>
        <p:blipFill>
          <a:blip r:embed="rId1"/>
          <a:stretch>
            <a:fillRect/>
          </a:stretch>
        </p:blipFill>
        <p:spPr>
          <a:xfrm>
            <a:off x="978408" y="1161288"/>
            <a:ext cx="420624" cy="420624"/>
          </a:xfrm>
          <a:prstGeom prst="rect">
            <a:avLst/>
          </a:prstGeom>
        </p:spPr>
      </p:pic>
      <p:sp>
        <p:nvSpPr>
          <p:cNvPr id="4" name="Text 0"/>
          <p:cNvSpPr/>
          <p:nvPr>
            <p:ph idx="100" type="title" hasCustomPrompt="1"/>
          </p:nvPr>
        </p:nvSpPr>
        <p:spPr>
          <a:xfrm>
            <a:off x="731520" y="210312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latin typeface="Arial" pitchFamily="34" charset="0"/>
                <a:ea typeface="Arial" pitchFamily="34" charset="-122"/>
                <a:cs typeface="Arial" pitchFamily="34" charset="-120"/>
              </a:rPr>
              <a:t>Every AI agent. Under control.</a:t>
            </a:r>
            <a:endParaRPr lang="en-US" sz="5400" dirty="0"/>
          </a:p>
        </p:txBody>
      </p:sp>
      <p:sp>
        <p:nvSpPr>
          <p:cNvPr id="5" name="Text 0"/>
          <p:cNvSpPr/>
          <p:nvPr>
            <p:ph idx="101" type="body" hasCustomPrompt="1"/>
          </p:nvPr>
        </p:nvSpPr>
        <p:spPr>
          <a:xfrm>
            <a:off x="731520" y="3429000"/>
            <a:ext cx="10698480" cy="822960"/>
          </a:xfrm>
          <a:prstGeom prst="rect">
            <a:avLst/>
          </a:prstGeom>
          <a:noFill/>
          <a:ln/>
        </p:spPr>
        <p:txBody>
          <a:bodyPr wrap="square" lIns="0" tIns="0" rIns="0" bIns="0" rtlCol="0" anchor="t"/>
          <a:lstStyle/>
          <a:p>
            <a:pPr algn="l" indent="0" marL="0">
              <a:buNone/>
            </a:pPr>
            <a:r>
              <a:rPr lang="en-US" sz="2400" dirty="0">
                <a:solidFill>
                  <a:schemeClr val="accent6"/>
                </a:solidFill>
              </a:rPr>
              <a:t>Let’s build the safety layer for the agent economy together.</a:t>
            </a:r>
            <a:endParaRPr lang="en-US" sz="2400" dirty="0"/>
          </a:p>
        </p:txBody>
      </p:sp>
      <p:sp>
        <p:nvSpPr>
          <p:cNvPr id="6" name="Contacts"/>
          <p:cNvSpPr txBox="1"/>
          <p:nvPr/>
        </p:nvSpPr>
        <p:spPr>
          <a:xfrm>
            <a:off x="731520" y="4937760"/>
            <a:ext cx="9144000" cy="731520"/>
          </a:xfrm>
          <a:prstGeom prst="rect">
            <a:avLst/>
          </a:prstGeom>
          <a:noFill/>
          <a:ln/>
        </p:spPr>
        <p:txBody>
          <a:bodyPr wrap="square" lIns="0" tIns="0" rIns="0" bIns="0" rtlCol="0" anchor="t"/>
          <a:lstStyle/>
          <a:p>
            <a:pPr indent="0" marL="0">
              <a:buNone/>
            </a:pPr>
            <a:r>
              <a:rPr lang="en-US" sz="1600" b="1" dirty="0">
                <a:solidFill>
                  <a:schemeClr val="bg1"/>
                </a:solidFill>
              </a:rPr>
              <a:t>Pratik Batha</a:t>
            </a:r>
            <a:pPr indent="0" marL="0">
              <a:buNone/>
            </a:pPr>
            <a:r>
              <a:rPr lang="en-US" sz="1600" dirty="0">
                <a:solidFill>
                  <a:schemeClr val="accent6"/>
                </a:solidFill>
              </a:rPr>
              <a:t>  ·  </a:t>
            </a:r>
            <a:pPr indent="0" marL="0">
              <a:buNone/>
            </a:pPr>
            <a:r>
              <a:rPr lang="en-US" sz="1600" b="1" dirty="0">
                <a:solidFill>
                  <a:schemeClr val="accent2"/>
                </a:solidFill>
              </a:rPr>
              <a:t>[To add: email / LinkedIn]</a:t>
            </a:r>
            <a:endParaRPr lang="en-US" sz="1600" dirty="0"/>
          </a:p>
          <a:p>
            <a:pPr indent="0" marL="0">
              <a:buNone/>
            </a:pPr>
            <a:r>
              <a:rPr lang="en-US" sz="1600" b="1" dirty="0">
                <a:solidFill>
                  <a:schemeClr val="bg1"/>
                </a:solidFill>
              </a:rPr>
              <a:t>Ulises Romano</a:t>
            </a:r>
            <a:pPr indent="0" marL="0">
              <a:buNone/>
            </a:pPr>
            <a:r>
              <a:rPr lang="en-US" sz="1600" dirty="0">
                <a:solidFill>
                  <a:schemeClr val="accent6"/>
                </a:solidFill>
              </a:rPr>
              <a:t>  ·  </a:t>
            </a:r>
            <a:pPr indent="0" marL="0">
              <a:buNone/>
            </a:pPr>
            <a:r>
              <a:rPr lang="en-US" sz="1600" b="1" dirty="0">
                <a:solidFill>
                  <a:schemeClr val="accent2"/>
                </a:solidFill>
              </a:rPr>
              <a:t>[To add: email / LinkedIn]</a:t>
            </a:r>
            <a:endParaRPr lang="en-US" sz="1600" dirty="0"/>
          </a:p>
        </p:txBody>
      </p:sp>
    </p:spTree>
  </p:cSld>
  <p:clrMapOvr>
    <a:masterClrMapping/>
  </p:clrMapOvr>
</p:sld>
</file>

<file path=ppt/theme/theme1.xml><?xml version="1.0" encoding="utf-8"?>
<a:theme xmlns:a="http://schemas.openxmlformats.org/drawingml/2006/main" name="AgentGuard">
  <a:themeElements>
    <a:clrScheme name="AgentGuard">
      <a:dk1>
        <a:srgbClr val="0B1220"/>
      </a:dk1>
      <a:lt1>
        <a:srgbClr val="FFFFFF"/>
      </a:lt1>
      <a:dk2>
        <a:srgbClr val="12263F"/>
      </a:dk2>
      <a:lt2>
        <a:srgbClr val="EEF3F8"/>
      </a:lt2>
      <a:accent1>
        <a:srgbClr val="0FA594"/>
      </a:accent1>
      <a:accent2>
        <a:srgbClr val="E8930C"/>
      </a:accent2>
      <a:accent3>
        <a:srgbClr val="DC3E3E"/>
      </a:accent3>
      <a:accent4>
        <a:srgbClr val="2F6FD6"/>
      </a:accent4>
      <a:accent5>
        <a:srgbClr val="5B6B80"/>
      </a:accent5>
      <a:accent6>
        <a:srgbClr val="CFF2EC"/>
      </a:accent6>
      <a:hlink>
        <a:srgbClr val="2F6FD6"/>
      </a:hlink>
      <a:folHlink>
        <a:srgbClr val="5B6B80"/>
      </a:folHlink>
    </a:clrScheme>
    <a:fontScheme name="AgentGua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AgentGuard – Investor Presentation</dc:title>
  <dc:subject>PptxGenJS Presentation</dc:subject>
  <dc:creator>Pratik Batha, Ulises Romano</dc:creator>
  <cp:lastModifiedBy>Pratik Batha, Ulises Romano</cp:lastModifiedBy>
  <cp:revision>1</cp:revision>
  <dcterms:created xsi:type="dcterms:W3CDTF">2026-10-12T21:02:26Z</dcterms:created>
  <dcterms:modified xsi:type="dcterms:W3CDTF">2026-10-12T21:02:26Z</dcterms:modified>
</cp:coreProperties>
</file>